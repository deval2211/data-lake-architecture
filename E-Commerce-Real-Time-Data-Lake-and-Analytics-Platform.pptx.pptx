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54.png" ContentType="image/png"/>
  <Override PartName="/ppt/media/image53.svg" ContentType="image/svg"/>
  <Override PartName="/ppt/media/image52.png" ContentType="image/png"/>
  <Override PartName="/ppt/media/image51.svg" ContentType="image/svg"/>
  <Override PartName="/ppt/media/image50.png" ContentType="image/png"/>
  <Override PartName="/ppt/media/image48.svg" ContentType="image/svg"/>
  <Override PartName="/ppt/media/image46.svg" ContentType="image/svg"/>
  <Override PartName="/ppt/media/image6.svg" ContentType="image/svg"/>
  <Override PartName="/ppt/media/image38.svg" ContentType="image/svg"/>
  <Override PartName="/ppt/media/image47.png" ContentType="image/png"/>
  <Override PartName="/ppt/media/image2.svg" ContentType="image/svg"/>
  <Override PartName="/ppt/media/image34.svg" ContentType="image/svg"/>
  <Override PartName="/ppt/media/image33.png" ContentType="image/png"/>
  <Override PartName="/ppt/media/image1.png" ContentType="image/png"/>
  <Override PartName="/ppt/media/image39.png" ContentType="image/png"/>
  <Override PartName="/ppt/media/image26.svg" ContentType="image/svg"/>
  <Override PartName="/ppt/media/image17.png" ContentType="image/png"/>
  <Override PartName="/ppt/media/image41.png" ContentType="image/png"/>
  <Override PartName="/ppt/media/image10.svg" ContentType="image/svg"/>
  <Override PartName="/ppt/media/image63.svg" ContentType="image/svg"/>
  <Override PartName="/ppt/media/image61.svg" ContentType="image/svg"/>
  <Override PartName="/ppt/media/image66.png" ContentType="image/png"/>
  <Override PartName="/ppt/media/image29.png" ContentType="image/png"/>
  <Override PartName="/ppt/media/image64.png" ContentType="image/png"/>
  <Override PartName="/ppt/media/image27.png" ContentType="image/png"/>
  <Override PartName="/ppt/media/image12.svg" ContentType="image/svg"/>
  <Override PartName="/ppt/media/image25.png" ContentType="image/png"/>
  <Override PartName="/ppt/media/image62.png" ContentType="image/png"/>
  <Override PartName="/ppt/media/image28.png" ContentType="image/png"/>
  <Override PartName="/ppt/media/image19.png" ContentType="image/png"/>
  <Override PartName="/ppt/media/image65.svg" ContentType="image/svg"/>
  <Override PartName="/ppt/media/image21.png" ContentType="image/png"/>
  <Override PartName="/ppt/media/image58.png" ContentType="image/png"/>
  <Override PartName="/ppt/media/image23.png" ContentType="image/png"/>
  <Override PartName="/ppt/media/image67.svg" ContentType="image/svg"/>
  <Override PartName="/ppt/media/image30.svg" ContentType="image/svg"/>
  <Override PartName="/ppt/media/image43.png" ContentType="image/png"/>
  <Override PartName="/ppt/media/image60.png" ContentType="image/png"/>
  <Override PartName="/ppt/media/image14.png" ContentType="image/png"/>
  <Override PartName="/ppt/media/image5.png" ContentType="image/png"/>
  <Override PartName="/ppt/media/image24.svg" ContentType="image/svg"/>
  <Override PartName="/ppt/media/image37.png" ContentType="image/png"/>
  <Override PartName="/ppt/media/image3.png" ContentType="image/png"/>
  <Override PartName="/ppt/media/image22.svg" ContentType="image/svg"/>
  <Override PartName="/ppt/media/image35.png" ContentType="image/png"/>
  <Override PartName="/ppt/media/image59.svg" ContentType="image/svg"/>
  <Override PartName="/ppt/media/image15.png" ContentType="image/png"/>
  <Override PartName="/ppt/media/image4.svg" ContentType="image/svg"/>
  <Override PartName="/ppt/media/image36.svg" ContentType="image/svg"/>
  <Override PartName="/ppt/media/image49.png" ContentType="image/png"/>
  <Override PartName="/ppt/media/image7.png" ContentType="image/png"/>
  <Override PartName="/ppt/media/image16.png" ContentType="image/png"/>
  <Override PartName="/ppt/media/image8.svg" ContentType="image/svg"/>
  <Override PartName="/ppt/media/image20.png" ContentType="image/png"/>
  <Override PartName="/ppt/media/image44.svg" ContentType="image/svg"/>
  <Override PartName="/ppt/media/image18.png" ContentType="image/png"/>
  <Override PartName="/ppt/media/image9.png" ContentType="image/png"/>
  <Override PartName="/ppt/media/image57.svg" ContentType="image/svg"/>
  <Override PartName="/ppt/media/image13.png" ContentType="image/png"/>
  <Override PartName="/ppt/media/image31.png" ContentType="image/png"/>
  <Override PartName="/ppt/media/image55.svg" ContentType="image/svg"/>
  <Override PartName="/ppt/media/image11.png" ContentType="image/png"/>
  <Override PartName="/ppt/media/image32.svg" ContentType="image/svg"/>
  <Override PartName="/ppt/media/image45.png" ContentType="image/png"/>
  <Override PartName="/ppt/media/image40.svg" ContentType="image/svg"/>
  <Override PartName="/ppt/media/image42.svg" ContentType="image/sv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E8DF18A-46A4-41D9-8525-FD643848B4F2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dt" idx="58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 type="ftr" idx="59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PlaceHolder 6"/>
          <p:cNvSpPr>
            <a:spLocks noGrp="1"/>
          </p:cNvSpPr>
          <p:nvPr>
            <p:ph type="sldNum" idx="60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 type="dt" idx="61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5"/>
          <p:cNvSpPr>
            <a:spLocks noGrp="1"/>
          </p:cNvSpPr>
          <p:nvPr>
            <p:ph type="ftr" idx="62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PlaceHolder 6"/>
          <p:cNvSpPr>
            <a:spLocks noGrp="1"/>
          </p:cNvSpPr>
          <p:nvPr>
            <p:ph type="sldNum" idx="63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dt" idx="64"/>
          </p:nvPr>
        </p:nvSpPr>
        <p:spPr>
          <a:xfrm>
            <a:off x="5180040" y="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7920" cy="256608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120" cy="30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5"/>
          <p:cNvSpPr>
            <a:spLocks noGrp="1"/>
          </p:cNvSpPr>
          <p:nvPr>
            <p:ph type="ftr" idx="65"/>
          </p:nvPr>
        </p:nvSpPr>
        <p:spPr>
          <a:xfrm>
            <a:off x="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PlaceHolder 6"/>
          <p:cNvSpPr>
            <a:spLocks noGrp="1"/>
          </p:cNvSpPr>
          <p:nvPr>
            <p:ph type="sldNum" idx="66"/>
          </p:nvPr>
        </p:nvSpPr>
        <p:spPr>
          <a:xfrm>
            <a:off x="5180040" y="6502320"/>
            <a:ext cx="3961440" cy="3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F31F8A-8286-4F14-B338-CE369E441A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924D610-88E5-4620-963E-34D0C4AA4C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5BEF1DB-7CEF-492A-BB3D-BD2EE422AD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3F1E66C-E617-4CD8-87B7-8955A3E767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FCB8AB2-D51E-47E2-B66D-63E0F587AE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78EEDAD-54A2-4B2A-9C5A-03B617F1A4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2F42C4E-1141-42A5-B347-FD0F5317DB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A6B4BF8-1BDE-4502-A8AD-E1DA88DB97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01F6AE6-73EF-4FA4-8EDB-09095480ED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51ADA76-552D-4E91-BFA4-DB436972AA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1E5E238-F86B-4493-8F0F-931F935F27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C44988-20A9-428B-9F94-84952B4CD9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617EDA-CC6D-40C9-8C54-5DF91EBEA6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928195-8AE5-4141-AAC4-BD9C5A19D8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940F4A-4A67-4C7A-B021-05BCB919FF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6AB548-C216-4C3C-8EC2-55B09A45F8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8D8CB2-0403-4F40-9143-0208F14F83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F45158-13F3-4D19-865D-91003DF839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8FBB4E-AF72-419A-B196-FFE261EC65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5EC6FF-ACF6-49B8-A302-E67E2B9394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B775B8-1091-4E11-9E51-3EFBA4895B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785D17-9B36-4B6C-857A-C34D5D1DA0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11.png"/><Relationship Id="rId12" Type="http://schemas.openxmlformats.org/officeDocument/2006/relationships/image" Target="../media/image12.svg"/><Relationship Id="rId13" Type="http://schemas.openxmlformats.org/officeDocument/2006/relationships/slideLayout" Target="../slideLayouts/slideLayout9.xml"/><Relationship Id="rId1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23.png"/><Relationship Id="rId5" Type="http://schemas.openxmlformats.org/officeDocument/2006/relationships/image" Target="../media/image24.svg"/><Relationship Id="rId6" Type="http://schemas.openxmlformats.org/officeDocument/2006/relationships/image" Target="../media/image25.png"/><Relationship Id="rId7" Type="http://schemas.openxmlformats.org/officeDocument/2006/relationships/image" Target="../media/image26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31.png"/><Relationship Id="rId5" Type="http://schemas.openxmlformats.org/officeDocument/2006/relationships/image" Target="../media/image32.svg"/><Relationship Id="rId6" Type="http://schemas.openxmlformats.org/officeDocument/2006/relationships/image" Target="../media/image33.png"/><Relationship Id="rId7" Type="http://schemas.openxmlformats.org/officeDocument/2006/relationships/image" Target="../media/image34.sv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svg"/><Relationship Id="rId3" Type="http://schemas.openxmlformats.org/officeDocument/2006/relationships/image" Target="../media/image39.png"/><Relationship Id="rId4" Type="http://schemas.openxmlformats.org/officeDocument/2006/relationships/image" Target="../media/image40.svg"/><Relationship Id="rId5" Type="http://schemas.openxmlformats.org/officeDocument/2006/relationships/image" Target="../media/image41.png"/><Relationship Id="rId6" Type="http://schemas.openxmlformats.org/officeDocument/2006/relationships/image" Target="../media/image42.svg"/><Relationship Id="rId7" Type="http://schemas.openxmlformats.org/officeDocument/2006/relationships/image" Target="../media/image43.png"/><Relationship Id="rId8" Type="http://schemas.openxmlformats.org/officeDocument/2006/relationships/image" Target="../media/image44.svg"/><Relationship Id="rId9" Type="http://schemas.openxmlformats.org/officeDocument/2006/relationships/image" Target="../media/image45.png"/><Relationship Id="rId10" Type="http://schemas.openxmlformats.org/officeDocument/2006/relationships/image" Target="../media/image46.svg"/><Relationship Id="rId11" Type="http://schemas.openxmlformats.org/officeDocument/2006/relationships/image" Target="../media/image47.png"/><Relationship Id="rId12" Type="http://schemas.openxmlformats.org/officeDocument/2006/relationships/image" Target="../media/image48.svg"/><Relationship Id="rId13" Type="http://schemas.openxmlformats.org/officeDocument/2006/relationships/image" Target="../media/image49.png"/><Relationship Id="rId14" Type="http://schemas.openxmlformats.org/officeDocument/2006/relationships/slideLayout" Target="../slideLayouts/slideLayout9.xml"/><Relationship Id="rId1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svg"/><Relationship Id="rId3" Type="http://schemas.openxmlformats.org/officeDocument/2006/relationships/image" Target="../media/image52.png"/><Relationship Id="rId4" Type="http://schemas.openxmlformats.org/officeDocument/2006/relationships/image" Target="../media/image53.svg"/><Relationship Id="rId5" Type="http://schemas.openxmlformats.org/officeDocument/2006/relationships/image" Target="../media/image54.png"/><Relationship Id="rId6" Type="http://schemas.openxmlformats.org/officeDocument/2006/relationships/image" Target="../media/image55.svg"/><Relationship Id="rId7" Type="http://schemas.openxmlformats.org/officeDocument/2006/relationships/image" Target="../media/image56.png"/><Relationship Id="rId8" Type="http://schemas.openxmlformats.org/officeDocument/2006/relationships/image" Target="../media/image57.svg"/><Relationship Id="rId9" Type="http://schemas.openxmlformats.org/officeDocument/2006/relationships/image" Target="../media/image58.png"/><Relationship Id="rId10" Type="http://schemas.openxmlformats.org/officeDocument/2006/relationships/image" Target="../media/image59.svg"/><Relationship Id="rId11" Type="http://schemas.openxmlformats.org/officeDocument/2006/relationships/image" Target="../media/image60.png"/><Relationship Id="rId12" Type="http://schemas.openxmlformats.org/officeDocument/2006/relationships/image" Target="../media/image61.svg"/><Relationship Id="rId13" Type="http://schemas.openxmlformats.org/officeDocument/2006/relationships/image" Target="../media/image62.png"/><Relationship Id="rId14" Type="http://schemas.openxmlformats.org/officeDocument/2006/relationships/image" Target="../media/image63.svg"/><Relationship Id="rId15" Type="http://schemas.openxmlformats.org/officeDocument/2006/relationships/image" Target="../media/image64.png"/><Relationship Id="rId16" Type="http://schemas.openxmlformats.org/officeDocument/2006/relationships/image" Target="../media/image65.svg"/><Relationship Id="rId17" Type="http://schemas.openxmlformats.org/officeDocument/2006/relationships/image" Target="../media/image66.png"/><Relationship Id="rId18" Type="http://schemas.openxmlformats.org/officeDocument/2006/relationships/image" Target="../media/image67.svg"/><Relationship Id="rId19" Type="http://schemas.openxmlformats.org/officeDocument/2006/relationships/slideLayout" Target="../slideLayouts/slideLayout9.xml"/><Relationship Id="rId20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57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59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0" name="TextBox 6"/>
          <p:cNvSpPr/>
          <p:nvPr/>
        </p:nvSpPr>
        <p:spPr>
          <a:xfrm>
            <a:off x="855720" y="720000"/>
            <a:ext cx="15163560" cy="15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63"/>
              </a:lnSpc>
            </a:pPr>
            <a:r>
              <a:rPr b="0" lang="en-US" sz="4880" spc="-1" strike="noStrike">
                <a:solidFill>
                  <a:srgbClr val="272d45"/>
                </a:solidFill>
                <a:latin typeface="arial"/>
                <a:ea typeface="arial"/>
              </a:rPr>
              <a:t>E-Commerce Real-Time Data Lake &amp; Analytics Platform</a:t>
            </a:r>
            <a:endParaRPr b="0" lang="en-IN" sz="4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7"/>
          <p:cNvSpPr/>
          <p:nvPr/>
        </p:nvSpPr>
        <p:spPr>
          <a:xfrm>
            <a:off x="870480" y="2361600"/>
            <a:ext cx="1654596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37"/>
              </a:lnSpc>
            </a:pPr>
            <a:r>
              <a:rPr b="0" lang="en-US" sz="1940" spc="-1" strike="noStrike">
                <a:solidFill>
                  <a:srgbClr val="2c3249"/>
                </a:solidFill>
                <a:latin typeface="Martel Sans"/>
                <a:ea typeface="Martel Sans"/>
              </a:rPr>
              <a:t>Building a Modern Data Pipeline with Kafka, Spark &amp; MinIO</a:t>
            </a:r>
            <a:endParaRPr b="0" lang="en-IN" sz="194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2" name="Group 8"/>
          <p:cNvGrpSpPr/>
          <p:nvPr/>
        </p:nvGrpSpPr>
        <p:grpSpPr>
          <a:xfrm>
            <a:off x="865800" y="3032640"/>
            <a:ext cx="8172720" cy="1877760"/>
            <a:chOff x="865800" y="3032640"/>
            <a:chExt cx="8172720" cy="1877760"/>
          </a:xfrm>
        </p:grpSpPr>
        <p:sp>
          <p:nvSpPr>
            <p:cNvPr id="63" name="Freeform 9"/>
            <p:cNvSpPr/>
            <p:nvPr/>
          </p:nvSpPr>
          <p:spPr>
            <a:xfrm>
              <a:off x="870480" y="3037320"/>
              <a:ext cx="8163360" cy="1868400"/>
            </a:xfrm>
            <a:custGeom>
              <a:avLst/>
              <a:gdLst>
                <a:gd name="textAreaLeft" fmla="*/ 0 w 8163360"/>
                <a:gd name="textAreaRight" fmla="*/ 8164440 w 8163360"/>
                <a:gd name="textAreaTop" fmla="*/ 0 h 1868400"/>
                <a:gd name="textAreaBottom" fmla="*/ 1869480 h 1868400"/>
              </a:gdLst>
              <a:ahLst/>
              <a:rect l="textAreaLeft" t="textAreaTop" r="textAreaRight" b="textAreaBottom"/>
              <a:pathLst>
                <a:path w="10885805" h="2492629">
                  <a:moveTo>
                    <a:pt x="0" y="139319"/>
                  </a:moveTo>
                  <a:cubicBezTo>
                    <a:pt x="0" y="62357"/>
                    <a:pt x="62611" y="0"/>
                    <a:pt x="139827" y="0"/>
                  </a:cubicBezTo>
                  <a:lnTo>
                    <a:pt x="10745978" y="0"/>
                  </a:lnTo>
                  <a:cubicBezTo>
                    <a:pt x="10823194" y="0"/>
                    <a:pt x="10885805" y="62357"/>
                    <a:pt x="10885805" y="139319"/>
                  </a:cubicBezTo>
                  <a:lnTo>
                    <a:pt x="10885805" y="2353310"/>
                  </a:lnTo>
                  <a:cubicBezTo>
                    <a:pt x="10885805" y="2430272"/>
                    <a:pt x="10823194" y="2492629"/>
                    <a:pt x="10745978" y="2492629"/>
                  </a:cubicBezTo>
                  <a:lnTo>
                    <a:pt x="139827" y="2492629"/>
                  </a:lnTo>
                  <a:cubicBezTo>
                    <a:pt x="62611" y="2492629"/>
                    <a:pt x="0" y="2430145"/>
                    <a:pt x="0" y="2353310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" name="Freeform 10"/>
            <p:cNvSpPr/>
            <p:nvPr/>
          </p:nvSpPr>
          <p:spPr>
            <a:xfrm>
              <a:off x="865800" y="3032640"/>
              <a:ext cx="8172720" cy="1877760"/>
            </a:xfrm>
            <a:custGeom>
              <a:avLst/>
              <a:gdLst>
                <a:gd name="textAreaLeft" fmla="*/ 0 w 8172720"/>
                <a:gd name="textAreaRight" fmla="*/ 8173800 w 8172720"/>
                <a:gd name="textAreaTop" fmla="*/ 0 h 1877760"/>
                <a:gd name="textAreaBottom" fmla="*/ 1878840 h 1877760"/>
              </a:gdLst>
              <a:ahLst/>
              <a:rect l="textAreaLeft" t="textAreaTop" r="textAreaRight" b="textAreaBottom"/>
              <a:pathLst>
                <a:path w="10898505" h="2505329">
                  <a:moveTo>
                    <a:pt x="0" y="145669"/>
                  </a:moveTo>
                  <a:cubicBezTo>
                    <a:pt x="0" y="65151"/>
                    <a:pt x="65532" y="0"/>
                    <a:pt x="146177" y="0"/>
                  </a:cubicBezTo>
                  <a:lnTo>
                    <a:pt x="10752328" y="0"/>
                  </a:lnTo>
                  <a:lnTo>
                    <a:pt x="10752328" y="6350"/>
                  </a:lnTo>
                  <a:lnTo>
                    <a:pt x="10752328" y="0"/>
                  </a:lnTo>
                  <a:cubicBezTo>
                    <a:pt x="10833100" y="0"/>
                    <a:pt x="10898505" y="65151"/>
                    <a:pt x="10898505" y="145669"/>
                  </a:cubicBezTo>
                  <a:lnTo>
                    <a:pt x="10892155" y="145669"/>
                  </a:lnTo>
                  <a:lnTo>
                    <a:pt x="10898505" y="145669"/>
                  </a:lnTo>
                  <a:lnTo>
                    <a:pt x="10898505" y="2359660"/>
                  </a:lnTo>
                  <a:lnTo>
                    <a:pt x="10892155" y="2359660"/>
                  </a:lnTo>
                  <a:lnTo>
                    <a:pt x="10898505" y="2359660"/>
                  </a:lnTo>
                  <a:cubicBezTo>
                    <a:pt x="10898505" y="2440178"/>
                    <a:pt x="10832973" y="2505329"/>
                    <a:pt x="10752328" y="2505329"/>
                  </a:cubicBezTo>
                  <a:lnTo>
                    <a:pt x="10752328" y="2498979"/>
                  </a:lnTo>
                  <a:lnTo>
                    <a:pt x="10752328" y="2505329"/>
                  </a:lnTo>
                  <a:lnTo>
                    <a:pt x="146177" y="2505329"/>
                  </a:lnTo>
                  <a:lnTo>
                    <a:pt x="146177" y="2498979"/>
                  </a:lnTo>
                  <a:lnTo>
                    <a:pt x="146177" y="2505329"/>
                  </a:lnTo>
                  <a:cubicBezTo>
                    <a:pt x="65532" y="2505329"/>
                    <a:pt x="0" y="2440051"/>
                    <a:pt x="0" y="2359660"/>
                  </a:cubicBezTo>
                  <a:lnTo>
                    <a:pt x="0" y="145669"/>
                  </a:lnTo>
                  <a:lnTo>
                    <a:pt x="6350" y="145669"/>
                  </a:lnTo>
                  <a:lnTo>
                    <a:pt x="0" y="145669"/>
                  </a:lnTo>
                  <a:moveTo>
                    <a:pt x="12700" y="145669"/>
                  </a:moveTo>
                  <a:lnTo>
                    <a:pt x="12700" y="2359660"/>
                  </a:lnTo>
                  <a:lnTo>
                    <a:pt x="6350" y="2359660"/>
                  </a:lnTo>
                  <a:lnTo>
                    <a:pt x="12700" y="2359660"/>
                  </a:lnTo>
                  <a:cubicBezTo>
                    <a:pt x="12700" y="2433066"/>
                    <a:pt x="72390" y="2492629"/>
                    <a:pt x="146177" y="2492629"/>
                  </a:cubicBezTo>
                  <a:lnTo>
                    <a:pt x="10752328" y="2492629"/>
                  </a:lnTo>
                  <a:cubicBezTo>
                    <a:pt x="10826115" y="2492629"/>
                    <a:pt x="10885805" y="2433066"/>
                    <a:pt x="10885805" y="2359660"/>
                  </a:cubicBezTo>
                  <a:lnTo>
                    <a:pt x="10885805" y="145669"/>
                  </a:lnTo>
                  <a:cubicBezTo>
                    <a:pt x="10885805" y="72263"/>
                    <a:pt x="10826115" y="12700"/>
                    <a:pt x="10752328" y="12700"/>
                  </a:cubicBezTo>
                  <a:lnTo>
                    <a:pt x="146177" y="12700"/>
                  </a:lnTo>
                  <a:lnTo>
                    <a:pt x="146177" y="6350"/>
                  </a:lnTo>
                  <a:lnTo>
                    <a:pt x="146177" y="12700"/>
                  </a:lnTo>
                  <a:cubicBezTo>
                    <a:pt x="72390" y="12700"/>
                    <a:pt x="12700" y="72263"/>
                    <a:pt x="12700" y="14566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" name="Group 11"/>
          <p:cNvGrpSpPr/>
          <p:nvPr/>
        </p:nvGrpSpPr>
        <p:grpSpPr>
          <a:xfrm>
            <a:off x="1128600" y="3295800"/>
            <a:ext cx="745200" cy="745200"/>
            <a:chOff x="1128600" y="3295800"/>
            <a:chExt cx="745200" cy="745200"/>
          </a:xfrm>
        </p:grpSpPr>
        <p:sp>
          <p:nvSpPr>
            <p:cNvPr id="66" name="Freeform 12"/>
            <p:cNvSpPr/>
            <p:nvPr/>
          </p:nvSpPr>
          <p:spPr>
            <a:xfrm>
              <a:off x="1128600" y="3295800"/>
              <a:ext cx="745200" cy="745200"/>
            </a:xfrm>
            <a:custGeom>
              <a:avLst/>
              <a:gdLst>
                <a:gd name="textAreaLeft" fmla="*/ 0 w 745200"/>
                <a:gd name="textAreaRight" fmla="*/ 746280 w 745200"/>
                <a:gd name="textAreaTop" fmla="*/ 0 h 745200"/>
                <a:gd name="textAreaBottom" fmla="*/ 746280 h 745200"/>
              </a:gdLst>
              <a:ahLst/>
              <a:rect l="textAreaLeft" t="textAreaTop" r="textAreaRight" b="textAreaBottom"/>
              <a:pathLst>
                <a:path w="994918" h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7" name="Freeform 13"/>
          <p:cNvSpPr/>
          <p:nvPr/>
        </p:nvSpPr>
        <p:spPr>
          <a:xfrm>
            <a:off x="1333800" y="3501000"/>
            <a:ext cx="334800" cy="334800"/>
          </a:xfrm>
          <a:custGeom>
            <a:avLst/>
            <a:gdLst>
              <a:gd name="textAreaLeft" fmla="*/ 0 w 334800"/>
              <a:gd name="textAreaRight" fmla="*/ 335880 w 334800"/>
              <a:gd name="textAreaTop" fmla="*/ 0 h 334800"/>
              <a:gd name="textAreaBottom" fmla="*/ 335880 h 334800"/>
            </a:gdLst>
            <a:ahLst/>
            <a:rect l="textAreaLeft" t="textAreaTop" r="textAreaRight" b="textAreaBottom"/>
            <a:pathLst>
              <a:path w="335756" h="335756">
                <a:moveTo>
                  <a:pt x="0" y="0"/>
                </a:moveTo>
                <a:lnTo>
                  <a:pt x="335756" y="0"/>
                </a:lnTo>
                <a:lnTo>
                  <a:pt x="335756" y="335756"/>
                </a:lnTo>
                <a:lnTo>
                  <a:pt x="0" y="3357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14"/>
          <p:cNvSpPr/>
          <p:nvPr/>
        </p:nvSpPr>
        <p:spPr>
          <a:xfrm>
            <a:off x="1128600" y="4250520"/>
            <a:ext cx="3108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9"/>
              </a:lnSpc>
            </a:pPr>
            <a:r>
              <a:rPr b="0" lang="en-US" sz="2430" spc="-1" strike="noStrike">
                <a:solidFill>
                  <a:srgbClr val="2c3249"/>
                </a:solidFill>
                <a:latin typeface="arial"/>
                <a:ea typeface="arial"/>
              </a:rPr>
              <a:t>Node.js</a:t>
            </a:r>
            <a:endParaRPr b="0" lang="en-IN" sz="243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" name="Group 15"/>
          <p:cNvGrpSpPr/>
          <p:nvPr/>
        </p:nvGrpSpPr>
        <p:grpSpPr>
          <a:xfrm>
            <a:off x="9248400" y="3032640"/>
            <a:ext cx="8172720" cy="1877760"/>
            <a:chOff x="9248400" y="3032640"/>
            <a:chExt cx="8172720" cy="1877760"/>
          </a:xfrm>
        </p:grpSpPr>
        <p:sp>
          <p:nvSpPr>
            <p:cNvPr id="70" name="Freeform 16"/>
            <p:cNvSpPr/>
            <p:nvPr/>
          </p:nvSpPr>
          <p:spPr>
            <a:xfrm>
              <a:off x="9253080" y="3037320"/>
              <a:ext cx="8163360" cy="1868400"/>
            </a:xfrm>
            <a:custGeom>
              <a:avLst/>
              <a:gdLst>
                <a:gd name="textAreaLeft" fmla="*/ 0 w 8163360"/>
                <a:gd name="textAreaRight" fmla="*/ 8164440 w 8163360"/>
                <a:gd name="textAreaTop" fmla="*/ 0 h 1868400"/>
                <a:gd name="textAreaBottom" fmla="*/ 1869480 h 1868400"/>
              </a:gdLst>
              <a:ahLst/>
              <a:rect l="textAreaLeft" t="textAreaTop" r="textAreaRight" b="textAreaBottom"/>
              <a:pathLst>
                <a:path w="10885805" h="2492629">
                  <a:moveTo>
                    <a:pt x="0" y="139319"/>
                  </a:moveTo>
                  <a:cubicBezTo>
                    <a:pt x="0" y="62357"/>
                    <a:pt x="62611" y="0"/>
                    <a:pt x="139827" y="0"/>
                  </a:cubicBezTo>
                  <a:lnTo>
                    <a:pt x="10745978" y="0"/>
                  </a:lnTo>
                  <a:cubicBezTo>
                    <a:pt x="10823194" y="0"/>
                    <a:pt x="10885805" y="62357"/>
                    <a:pt x="10885805" y="139319"/>
                  </a:cubicBezTo>
                  <a:lnTo>
                    <a:pt x="10885805" y="2353310"/>
                  </a:lnTo>
                  <a:cubicBezTo>
                    <a:pt x="10885805" y="2430272"/>
                    <a:pt x="10823194" y="2492629"/>
                    <a:pt x="10745978" y="2492629"/>
                  </a:cubicBezTo>
                  <a:lnTo>
                    <a:pt x="139827" y="2492629"/>
                  </a:lnTo>
                  <a:cubicBezTo>
                    <a:pt x="62611" y="2492629"/>
                    <a:pt x="0" y="2430145"/>
                    <a:pt x="0" y="2353310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Freeform 17"/>
            <p:cNvSpPr/>
            <p:nvPr/>
          </p:nvSpPr>
          <p:spPr>
            <a:xfrm>
              <a:off x="9248400" y="3032640"/>
              <a:ext cx="8172720" cy="1877760"/>
            </a:xfrm>
            <a:custGeom>
              <a:avLst/>
              <a:gdLst>
                <a:gd name="textAreaLeft" fmla="*/ 0 w 8172720"/>
                <a:gd name="textAreaRight" fmla="*/ 8173800 w 8172720"/>
                <a:gd name="textAreaTop" fmla="*/ 0 h 1877760"/>
                <a:gd name="textAreaBottom" fmla="*/ 1878840 h 1877760"/>
              </a:gdLst>
              <a:ahLst/>
              <a:rect l="textAreaLeft" t="textAreaTop" r="textAreaRight" b="textAreaBottom"/>
              <a:pathLst>
                <a:path w="10898505" h="2505329">
                  <a:moveTo>
                    <a:pt x="0" y="145669"/>
                  </a:moveTo>
                  <a:cubicBezTo>
                    <a:pt x="0" y="65151"/>
                    <a:pt x="65532" y="0"/>
                    <a:pt x="146177" y="0"/>
                  </a:cubicBezTo>
                  <a:lnTo>
                    <a:pt x="10752328" y="0"/>
                  </a:lnTo>
                  <a:lnTo>
                    <a:pt x="10752328" y="6350"/>
                  </a:lnTo>
                  <a:lnTo>
                    <a:pt x="10752328" y="0"/>
                  </a:lnTo>
                  <a:cubicBezTo>
                    <a:pt x="10833100" y="0"/>
                    <a:pt x="10898505" y="65151"/>
                    <a:pt x="10898505" y="145669"/>
                  </a:cubicBezTo>
                  <a:lnTo>
                    <a:pt x="10892155" y="145669"/>
                  </a:lnTo>
                  <a:lnTo>
                    <a:pt x="10898505" y="145669"/>
                  </a:lnTo>
                  <a:lnTo>
                    <a:pt x="10898505" y="2359660"/>
                  </a:lnTo>
                  <a:lnTo>
                    <a:pt x="10892155" y="2359660"/>
                  </a:lnTo>
                  <a:lnTo>
                    <a:pt x="10898505" y="2359660"/>
                  </a:lnTo>
                  <a:cubicBezTo>
                    <a:pt x="10898505" y="2440178"/>
                    <a:pt x="10832973" y="2505329"/>
                    <a:pt x="10752328" y="2505329"/>
                  </a:cubicBezTo>
                  <a:lnTo>
                    <a:pt x="10752328" y="2498979"/>
                  </a:lnTo>
                  <a:lnTo>
                    <a:pt x="10752328" y="2505329"/>
                  </a:lnTo>
                  <a:lnTo>
                    <a:pt x="146177" y="2505329"/>
                  </a:lnTo>
                  <a:lnTo>
                    <a:pt x="146177" y="2498979"/>
                  </a:lnTo>
                  <a:lnTo>
                    <a:pt x="146177" y="2505329"/>
                  </a:lnTo>
                  <a:cubicBezTo>
                    <a:pt x="65532" y="2505329"/>
                    <a:pt x="0" y="2440051"/>
                    <a:pt x="0" y="2359660"/>
                  </a:cubicBezTo>
                  <a:lnTo>
                    <a:pt x="0" y="145669"/>
                  </a:lnTo>
                  <a:lnTo>
                    <a:pt x="6350" y="145669"/>
                  </a:lnTo>
                  <a:lnTo>
                    <a:pt x="0" y="145669"/>
                  </a:lnTo>
                  <a:moveTo>
                    <a:pt x="12700" y="145669"/>
                  </a:moveTo>
                  <a:lnTo>
                    <a:pt x="12700" y="2359660"/>
                  </a:lnTo>
                  <a:lnTo>
                    <a:pt x="6350" y="2359660"/>
                  </a:lnTo>
                  <a:lnTo>
                    <a:pt x="12700" y="2359660"/>
                  </a:lnTo>
                  <a:cubicBezTo>
                    <a:pt x="12700" y="2433066"/>
                    <a:pt x="72390" y="2492629"/>
                    <a:pt x="146177" y="2492629"/>
                  </a:cubicBezTo>
                  <a:lnTo>
                    <a:pt x="10752328" y="2492629"/>
                  </a:lnTo>
                  <a:cubicBezTo>
                    <a:pt x="10826115" y="2492629"/>
                    <a:pt x="10885805" y="2433066"/>
                    <a:pt x="10885805" y="2359660"/>
                  </a:cubicBezTo>
                  <a:lnTo>
                    <a:pt x="10885805" y="145669"/>
                  </a:lnTo>
                  <a:cubicBezTo>
                    <a:pt x="10885805" y="72263"/>
                    <a:pt x="10826115" y="12700"/>
                    <a:pt x="10752328" y="12700"/>
                  </a:cubicBezTo>
                  <a:lnTo>
                    <a:pt x="146177" y="12700"/>
                  </a:lnTo>
                  <a:lnTo>
                    <a:pt x="146177" y="6350"/>
                  </a:lnTo>
                  <a:lnTo>
                    <a:pt x="146177" y="12700"/>
                  </a:lnTo>
                  <a:cubicBezTo>
                    <a:pt x="72390" y="12700"/>
                    <a:pt x="12700" y="72263"/>
                    <a:pt x="12700" y="14566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" name="Group 18"/>
          <p:cNvGrpSpPr/>
          <p:nvPr/>
        </p:nvGrpSpPr>
        <p:grpSpPr>
          <a:xfrm>
            <a:off x="9511200" y="3295800"/>
            <a:ext cx="745200" cy="745200"/>
            <a:chOff x="9511200" y="3295800"/>
            <a:chExt cx="745200" cy="745200"/>
          </a:xfrm>
        </p:grpSpPr>
        <p:sp>
          <p:nvSpPr>
            <p:cNvPr id="73" name="Freeform 19"/>
            <p:cNvSpPr/>
            <p:nvPr/>
          </p:nvSpPr>
          <p:spPr>
            <a:xfrm>
              <a:off x="9511200" y="3295800"/>
              <a:ext cx="745200" cy="745200"/>
            </a:xfrm>
            <a:custGeom>
              <a:avLst/>
              <a:gdLst>
                <a:gd name="textAreaLeft" fmla="*/ 0 w 745200"/>
                <a:gd name="textAreaRight" fmla="*/ 746280 w 745200"/>
                <a:gd name="textAreaTop" fmla="*/ 0 h 745200"/>
                <a:gd name="textAreaBottom" fmla="*/ 746280 h 745200"/>
              </a:gdLst>
              <a:ahLst/>
              <a:rect l="textAreaLeft" t="textAreaTop" r="textAreaRight" b="textAreaBottom"/>
              <a:pathLst>
                <a:path w="994918" h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4" name="Freeform 20"/>
          <p:cNvSpPr/>
          <p:nvPr/>
        </p:nvSpPr>
        <p:spPr>
          <a:xfrm>
            <a:off x="9716400" y="3501000"/>
            <a:ext cx="334800" cy="334800"/>
          </a:xfrm>
          <a:custGeom>
            <a:avLst/>
            <a:gdLst>
              <a:gd name="textAreaLeft" fmla="*/ 0 w 334800"/>
              <a:gd name="textAreaRight" fmla="*/ 335880 w 334800"/>
              <a:gd name="textAreaTop" fmla="*/ 0 h 334800"/>
              <a:gd name="textAreaBottom" fmla="*/ 335880 h 334800"/>
            </a:gdLst>
            <a:ahLst/>
            <a:rect l="textAreaLeft" t="textAreaTop" r="textAreaRight" b="textAreaBottom"/>
            <a:pathLst>
              <a:path w="335756" h="335756">
                <a:moveTo>
                  <a:pt x="0" y="0"/>
                </a:moveTo>
                <a:lnTo>
                  <a:pt x="335756" y="0"/>
                </a:lnTo>
                <a:lnTo>
                  <a:pt x="335756" y="335756"/>
                </a:lnTo>
                <a:lnTo>
                  <a:pt x="0" y="3357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21"/>
          <p:cNvSpPr/>
          <p:nvPr/>
        </p:nvSpPr>
        <p:spPr>
          <a:xfrm>
            <a:off x="9511200" y="4250520"/>
            <a:ext cx="3108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9"/>
              </a:lnSpc>
            </a:pPr>
            <a:r>
              <a:rPr b="0" lang="en-US" sz="2430" spc="-1" strike="noStrike">
                <a:solidFill>
                  <a:srgbClr val="2c3249"/>
                </a:solidFill>
                <a:latin typeface="arial"/>
                <a:ea typeface="arial"/>
              </a:rPr>
              <a:t>React</a:t>
            </a:r>
            <a:endParaRPr b="0" lang="en-IN" sz="243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6" name="Group 22"/>
          <p:cNvGrpSpPr/>
          <p:nvPr/>
        </p:nvGrpSpPr>
        <p:grpSpPr>
          <a:xfrm>
            <a:off x="865800" y="5120280"/>
            <a:ext cx="8172720" cy="1877760"/>
            <a:chOff x="865800" y="5120280"/>
            <a:chExt cx="8172720" cy="1877760"/>
          </a:xfrm>
        </p:grpSpPr>
        <p:sp>
          <p:nvSpPr>
            <p:cNvPr id="77" name="Freeform 23"/>
            <p:cNvSpPr/>
            <p:nvPr/>
          </p:nvSpPr>
          <p:spPr>
            <a:xfrm>
              <a:off x="870480" y="5124960"/>
              <a:ext cx="8163360" cy="1868400"/>
            </a:xfrm>
            <a:custGeom>
              <a:avLst/>
              <a:gdLst>
                <a:gd name="textAreaLeft" fmla="*/ 0 w 8163360"/>
                <a:gd name="textAreaRight" fmla="*/ 8164440 w 8163360"/>
                <a:gd name="textAreaTop" fmla="*/ 0 h 1868400"/>
                <a:gd name="textAreaBottom" fmla="*/ 1869480 h 1868400"/>
              </a:gdLst>
              <a:ahLst/>
              <a:rect l="textAreaLeft" t="textAreaTop" r="textAreaRight" b="textAreaBottom"/>
              <a:pathLst>
                <a:path w="10885805" h="2492629">
                  <a:moveTo>
                    <a:pt x="0" y="139319"/>
                  </a:moveTo>
                  <a:cubicBezTo>
                    <a:pt x="0" y="62357"/>
                    <a:pt x="62611" y="0"/>
                    <a:pt x="139827" y="0"/>
                  </a:cubicBezTo>
                  <a:lnTo>
                    <a:pt x="10745978" y="0"/>
                  </a:lnTo>
                  <a:cubicBezTo>
                    <a:pt x="10823194" y="0"/>
                    <a:pt x="10885805" y="62357"/>
                    <a:pt x="10885805" y="139319"/>
                  </a:cubicBezTo>
                  <a:lnTo>
                    <a:pt x="10885805" y="2353310"/>
                  </a:lnTo>
                  <a:cubicBezTo>
                    <a:pt x="10885805" y="2430272"/>
                    <a:pt x="10823194" y="2492629"/>
                    <a:pt x="10745978" y="2492629"/>
                  </a:cubicBezTo>
                  <a:lnTo>
                    <a:pt x="139827" y="2492629"/>
                  </a:lnTo>
                  <a:cubicBezTo>
                    <a:pt x="62611" y="2492629"/>
                    <a:pt x="0" y="2430145"/>
                    <a:pt x="0" y="2353310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Freeform 24"/>
            <p:cNvSpPr/>
            <p:nvPr/>
          </p:nvSpPr>
          <p:spPr>
            <a:xfrm>
              <a:off x="865800" y="5120280"/>
              <a:ext cx="8172720" cy="1877760"/>
            </a:xfrm>
            <a:custGeom>
              <a:avLst/>
              <a:gdLst>
                <a:gd name="textAreaLeft" fmla="*/ 0 w 8172720"/>
                <a:gd name="textAreaRight" fmla="*/ 8173800 w 8172720"/>
                <a:gd name="textAreaTop" fmla="*/ 0 h 1877760"/>
                <a:gd name="textAreaBottom" fmla="*/ 1878840 h 1877760"/>
              </a:gdLst>
              <a:ahLst/>
              <a:rect l="textAreaLeft" t="textAreaTop" r="textAreaRight" b="textAreaBottom"/>
              <a:pathLst>
                <a:path w="10898505" h="2505329">
                  <a:moveTo>
                    <a:pt x="0" y="145669"/>
                  </a:moveTo>
                  <a:cubicBezTo>
                    <a:pt x="0" y="65151"/>
                    <a:pt x="65532" y="0"/>
                    <a:pt x="146177" y="0"/>
                  </a:cubicBezTo>
                  <a:lnTo>
                    <a:pt x="10752328" y="0"/>
                  </a:lnTo>
                  <a:lnTo>
                    <a:pt x="10752328" y="6350"/>
                  </a:lnTo>
                  <a:lnTo>
                    <a:pt x="10752328" y="0"/>
                  </a:lnTo>
                  <a:cubicBezTo>
                    <a:pt x="10833100" y="0"/>
                    <a:pt x="10898505" y="65151"/>
                    <a:pt x="10898505" y="145669"/>
                  </a:cubicBezTo>
                  <a:lnTo>
                    <a:pt x="10892155" y="145669"/>
                  </a:lnTo>
                  <a:lnTo>
                    <a:pt x="10898505" y="145669"/>
                  </a:lnTo>
                  <a:lnTo>
                    <a:pt x="10898505" y="2359660"/>
                  </a:lnTo>
                  <a:lnTo>
                    <a:pt x="10892155" y="2359660"/>
                  </a:lnTo>
                  <a:lnTo>
                    <a:pt x="10898505" y="2359660"/>
                  </a:lnTo>
                  <a:cubicBezTo>
                    <a:pt x="10898505" y="2440178"/>
                    <a:pt x="10832973" y="2505329"/>
                    <a:pt x="10752328" y="2505329"/>
                  </a:cubicBezTo>
                  <a:lnTo>
                    <a:pt x="10752328" y="2498979"/>
                  </a:lnTo>
                  <a:lnTo>
                    <a:pt x="10752328" y="2505329"/>
                  </a:lnTo>
                  <a:lnTo>
                    <a:pt x="146177" y="2505329"/>
                  </a:lnTo>
                  <a:lnTo>
                    <a:pt x="146177" y="2498979"/>
                  </a:lnTo>
                  <a:lnTo>
                    <a:pt x="146177" y="2505329"/>
                  </a:lnTo>
                  <a:cubicBezTo>
                    <a:pt x="65532" y="2505329"/>
                    <a:pt x="0" y="2440051"/>
                    <a:pt x="0" y="2359660"/>
                  </a:cubicBezTo>
                  <a:lnTo>
                    <a:pt x="0" y="145669"/>
                  </a:lnTo>
                  <a:lnTo>
                    <a:pt x="6350" y="145669"/>
                  </a:lnTo>
                  <a:lnTo>
                    <a:pt x="0" y="145669"/>
                  </a:lnTo>
                  <a:moveTo>
                    <a:pt x="12700" y="145669"/>
                  </a:moveTo>
                  <a:lnTo>
                    <a:pt x="12700" y="2359660"/>
                  </a:lnTo>
                  <a:lnTo>
                    <a:pt x="6350" y="2359660"/>
                  </a:lnTo>
                  <a:lnTo>
                    <a:pt x="12700" y="2359660"/>
                  </a:lnTo>
                  <a:cubicBezTo>
                    <a:pt x="12700" y="2433066"/>
                    <a:pt x="72390" y="2492629"/>
                    <a:pt x="146177" y="2492629"/>
                  </a:cubicBezTo>
                  <a:lnTo>
                    <a:pt x="10752328" y="2492629"/>
                  </a:lnTo>
                  <a:cubicBezTo>
                    <a:pt x="10826115" y="2492629"/>
                    <a:pt x="10885805" y="2433066"/>
                    <a:pt x="10885805" y="2359660"/>
                  </a:cubicBezTo>
                  <a:lnTo>
                    <a:pt x="10885805" y="145669"/>
                  </a:lnTo>
                  <a:cubicBezTo>
                    <a:pt x="10885805" y="72263"/>
                    <a:pt x="10826115" y="12700"/>
                    <a:pt x="10752328" y="12700"/>
                  </a:cubicBezTo>
                  <a:lnTo>
                    <a:pt x="146177" y="12700"/>
                  </a:lnTo>
                  <a:lnTo>
                    <a:pt x="146177" y="6350"/>
                  </a:lnTo>
                  <a:lnTo>
                    <a:pt x="146177" y="12700"/>
                  </a:lnTo>
                  <a:cubicBezTo>
                    <a:pt x="72390" y="12700"/>
                    <a:pt x="12700" y="72263"/>
                    <a:pt x="12700" y="14566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" name="Group 25"/>
          <p:cNvGrpSpPr/>
          <p:nvPr/>
        </p:nvGrpSpPr>
        <p:grpSpPr>
          <a:xfrm>
            <a:off x="1128600" y="5383440"/>
            <a:ext cx="745200" cy="745200"/>
            <a:chOff x="1128600" y="5383440"/>
            <a:chExt cx="745200" cy="745200"/>
          </a:xfrm>
        </p:grpSpPr>
        <p:sp>
          <p:nvSpPr>
            <p:cNvPr id="80" name="Freeform 26"/>
            <p:cNvSpPr/>
            <p:nvPr/>
          </p:nvSpPr>
          <p:spPr>
            <a:xfrm>
              <a:off x="1128600" y="5383440"/>
              <a:ext cx="745200" cy="745200"/>
            </a:xfrm>
            <a:custGeom>
              <a:avLst/>
              <a:gdLst>
                <a:gd name="textAreaLeft" fmla="*/ 0 w 745200"/>
                <a:gd name="textAreaRight" fmla="*/ 746280 w 745200"/>
                <a:gd name="textAreaTop" fmla="*/ 0 h 745200"/>
                <a:gd name="textAreaBottom" fmla="*/ 746280 h 745200"/>
              </a:gdLst>
              <a:ahLst/>
              <a:rect l="textAreaLeft" t="textAreaTop" r="textAreaRight" b="textAreaBottom"/>
              <a:pathLst>
                <a:path w="994918" h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1" name="Freeform 27"/>
          <p:cNvSpPr/>
          <p:nvPr/>
        </p:nvSpPr>
        <p:spPr>
          <a:xfrm>
            <a:off x="1333800" y="5588640"/>
            <a:ext cx="334800" cy="334800"/>
          </a:xfrm>
          <a:custGeom>
            <a:avLst/>
            <a:gdLst>
              <a:gd name="textAreaLeft" fmla="*/ 0 w 334800"/>
              <a:gd name="textAreaRight" fmla="*/ 335880 w 334800"/>
              <a:gd name="textAreaTop" fmla="*/ 0 h 334800"/>
              <a:gd name="textAreaBottom" fmla="*/ 335880 h 334800"/>
            </a:gdLst>
            <a:ahLst/>
            <a:rect l="textAreaLeft" t="textAreaTop" r="textAreaRight" b="textAreaBottom"/>
            <a:pathLst>
              <a:path w="335756" h="335756">
                <a:moveTo>
                  <a:pt x="0" y="0"/>
                </a:moveTo>
                <a:lnTo>
                  <a:pt x="335756" y="0"/>
                </a:lnTo>
                <a:lnTo>
                  <a:pt x="335756" y="335757"/>
                </a:lnTo>
                <a:lnTo>
                  <a:pt x="0" y="335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8"/>
          <p:cNvSpPr/>
          <p:nvPr/>
        </p:nvSpPr>
        <p:spPr>
          <a:xfrm>
            <a:off x="1128600" y="6338160"/>
            <a:ext cx="3108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9"/>
              </a:lnSpc>
            </a:pPr>
            <a:r>
              <a:rPr b="0" lang="en-US" sz="2430" spc="-1" strike="noStrike">
                <a:solidFill>
                  <a:srgbClr val="2c3249"/>
                </a:solidFill>
                <a:latin typeface="arial"/>
                <a:ea typeface="arial"/>
              </a:rPr>
              <a:t>MongoDB</a:t>
            </a:r>
            <a:endParaRPr b="0" lang="en-IN" sz="243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3" name="Group 29"/>
          <p:cNvGrpSpPr/>
          <p:nvPr/>
        </p:nvGrpSpPr>
        <p:grpSpPr>
          <a:xfrm>
            <a:off x="9248400" y="5120280"/>
            <a:ext cx="8172720" cy="1877760"/>
            <a:chOff x="9248400" y="5120280"/>
            <a:chExt cx="8172720" cy="1877760"/>
          </a:xfrm>
        </p:grpSpPr>
        <p:sp>
          <p:nvSpPr>
            <p:cNvPr id="84" name="Freeform 30"/>
            <p:cNvSpPr/>
            <p:nvPr/>
          </p:nvSpPr>
          <p:spPr>
            <a:xfrm>
              <a:off x="9253080" y="5124960"/>
              <a:ext cx="8163360" cy="1868400"/>
            </a:xfrm>
            <a:custGeom>
              <a:avLst/>
              <a:gdLst>
                <a:gd name="textAreaLeft" fmla="*/ 0 w 8163360"/>
                <a:gd name="textAreaRight" fmla="*/ 8164440 w 8163360"/>
                <a:gd name="textAreaTop" fmla="*/ 0 h 1868400"/>
                <a:gd name="textAreaBottom" fmla="*/ 1869480 h 1868400"/>
              </a:gdLst>
              <a:ahLst/>
              <a:rect l="textAreaLeft" t="textAreaTop" r="textAreaRight" b="textAreaBottom"/>
              <a:pathLst>
                <a:path w="10885805" h="2492629">
                  <a:moveTo>
                    <a:pt x="0" y="139319"/>
                  </a:moveTo>
                  <a:cubicBezTo>
                    <a:pt x="0" y="62357"/>
                    <a:pt x="62611" y="0"/>
                    <a:pt x="139827" y="0"/>
                  </a:cubicBezTo>
                  <a:lnTo>
                    <a:pt x="10745978" y="0"/>
                  </a:lnTo>
                  <a:cubicBezTo>
                    <a:pt x="10823194" y="0"/>
                    <a:pt x="10885805" y="62357"/>
                    <a:pt x="10885805" y="139319"/>
                  </a:cubicBezTo>
                  <a:lnTo>
                    <a:pt x="10885805" y="2353310"/>
                  </a:lnTo>
                  <a:cubicBezTo>
                    <a:pt x="10885805" y="2430272"/>
                    <a:pt x="10823194" y="2492629"/>
                    <a:pt x="10745978" y="2492629"/>
                  </a:cubicBezTo>
                  <a:lnTo>
                    <a:pt x="139827" y="2492629"/>
                  </a:lnTo>
                  <a:cubicBezTo>
                    <a:pt x="62611" y="2492629"/>
                    <a:pt x="0" y="2430145"/>
                    <a:pt x="0" y="2353310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Freeform 31"/>
            <p:cNvSpPr/>
            <p:nvPr/>
          </p:nvSpPr>
          <p:spPr>
            <a:xfrm>
              <a:off x="9248400" y="5120280"/>
              <a:ext cx="8172720" cy="1877760"/>
            </a:xfrm>
            <a:custGeom>
              <a:avLst/>
              <a:gdLst>
                <a:gd name="textAreaLeft" fmla="*/ 0 w 8172720"/>
                <a:gd name="textAreaRight" fmla="*/ 8173800 w 8172720"/>
                <a:gd name="textAreaTop" fmla="*/ 0 h 1877760"/>
                <a:gd name="textAreaBottom" fmla="*/ 1878840 h 1877760"/>
              </a:gdLst>
              <a:ahLst/>
              <a:rect l="textAreaLeft" t="textAreaTop" r="textAreaRight" b="textAreaBottom"/>
              <a:pathLst>
                <a:path w="10898505" h="2505329">
                  <a:moveTo>
                    <a:pt x="0" y="145669"/>
                  </a:moveTo>
                  <a:cubicBezTo>
                    <a:pt x="0" y="65151"/>
                    <a:pt x="65532" y="0"/>
                    <a:pt x="146177" y="0"/>
                  </a:cubicBezTo>
                  <a:lnTo>
                    <a:pt x="10752328" y="0"/>
                  </a:lnTo>
                  <a:lnTo>
                    <a:pt x="10752328" y="6350"/>
                  </a:lnTo>
                  <a:lnTo>
                    <a:pt x="10752328" y="0"/>
                  </a:lnTo>
                  <a:cubicBezTo>
                    <a:pt x="10833100" y="0"/>
                    <a:pt x="10898505" y="65151"/>
                    <a:pt x="10898505" y="145669"/>
                  </a:cubicBezTo>
                  <a:lnTo>
                    <a:pt x="10892155" y="145669"/>
                  </a:lnTo>
                  <a:lnTo>
                    <a:pt x="10898505" y="145669"/>
                  </a:lnTo>
                  <a:lnTo>
                    <a:pt x="10898505" y="2359660"/>
                  </a:lnTo>
                  <a:lnTo>
                    <a:pt x="10892155" y="2359660"/>
                  </a:lnTo>
                  <a:lnTo>
                    <a:pt x="10898505" y="2359660"/>
                  </a:lnTo>
                  <a:cubicBezTo>
                    <a:pt x="10898505" y="2440178"/>
                    <a:pt x="10832973" y="2505329"/>
                    <a:pt x="10752328" y="2505329"/>
                  </a:cubicBezTo>
                  <a:lnTo>
                    <a:pt x="10752328" y="2498979"/>
                  </a:lnTo>
                  <a:lnTo>
                    <a:pt x="10752328" y="2505329"/>
                  </a:lnTo>
                  <a:lnTo>
                    <a:pt x="146177" y="2505329"/>
                  </a:lnTo>
                  <a:lnTo>
                    <a:pt x="146177" y="2498979"/>
                  </a:lnTo>
                  <a:lnTo>
                    <a:pt x="146177" y="2505329"/>
                  </a:lnTo>
                  <a:cubicBezTo>
                    <a:pt x="65532" y="2505329"/>
                    <a:pt x="0" y="2440051"/>
                    <a:pt x="0" y="2359660"/>
                  </a:cubicBezTo>
                  <a:lnTo>
                    <a:pt x="0" y="145669"/>
                  </a:lnTo>
                  <a:lnTo>
                    <a:pt x="6350" y="145669"/>
                  </a:lnTo>
                  <a:lnTo>
                    <a:pt x="0" y="145669"/>
                  </a:lnTo>
                  <a:moveTo>
                    <a:pt x="12700" y="145669"/>
                  </a:moveTo>
                  <a:lnTo>
                    <a:pt x="12700" y="2359660"/>
                  </a:lnTo>
                  <a:lnTo>
                    <a:pt x="6350" y="2359660"/>
                  </a:lnTo>
                  <a:lnTo>
                    <a:pt x="12700" y="2359660"/>
                  </a:lnTo>
                  <a:cubicBezTo>
                    <a:pt x="12700" y="2433066"/>
                    <a:pt x="72390" y="2492629"/>
                    <a:pt x="146177" y="2492629"/>
                  </a:cubicBezTo>
                  <a:lnTo>
                    <a:pt x="10752328" y="2492629"/>
                  </a:lnTo>
                  <a:cubicBezTo>
                    <a:pt x="10826115" y="2492629"/>
                    <a:pt x="10885805" y="2433066"/>
                    <a:pt x="10885805" y="2359660"/>
                  </a:cubicBezTo>
                  <a:lnTo>
                    <a:pt x="10885805" y="145669"/>
                  </a:lnTo>
                  <a:cubicBezTo>
                    <a:pt x="10885805" y="72263"/>
                    <a:pt x="10826115" y="12700"/>
                    <a:pt x="10752328" y="12700"/>
                  </a:cubicBezTo>
                  <a:lnTo>
                    <a:pt x="146177" y="12700"/>
                  </a:lnTo>
                  <a:lnTo>
                    <a:pt x="146177" y="6350"/>
                  </a:lnTo>
                  <a:lnTo>
                    <a:pt x="146177" y="12700"/>
                  </a:lnTo>
                  <a:cubicBezTo>
                    <a:pt x="72390" y="12700"/>
                    <a:pt x="12700" y="72263"/>
                    <a:pt x="12700" y="14566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" name="Group 32"/>
          <p:cNvGrpSpPr/>
          <p:nvPr/>
        </p:nvGrpSpPr>
        <p:grpSpPr>
          <a:xfrm>
            <a:off x="9511200" y="5383440"/>
            <a:ext cx="745200" cy="745200"/>
            <a:chOff x="9511200" y="5383440"/>
            <a:chExt cx="745200" cy="745200"/>
          </a:xfrm>
        </p:grpSpPr>
        <p:sp>
          <p:nvSpPr>
            <p:cNvPr id="87" name="Freeform 33"/>
            <p:cNvSpPr/>
            <p:nvPr/>
          </p:nvSpPr>
          <p:spPr>
            <a:xfrm>
              <a:off x="9511200" y="5383440"/>
              <a:ext cx="745200" cy="745200"/>
            </a:xfrm>
            <a:custGeom>
              <a:avLst/>
              <a:gdLst>
                <a:gd name="textAreaLeft" fmla="*/ 0 w 745200"/>
                <a:gd name="textAreaRight" fmla="*/ 746280 w 745200"/>
                <a:gd name="textAreaTop" fmla="*/ 0 h 745200"/>
                <a:gd name="textAreaBottom" fmla="*/ 746280 h 745200"/>
              </a:gdLst>
              <a:ahLst/>
              <a:rect l="textAreaLeft" t="textAreaTop" r="textAreaRight" b="textAreaBottom"/>
              <a:pathLst>
                <a:path w="994918" h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8" name="Freeform 34"/>
          <p:cNvSpPr/>
          <p:nvPr/>
        </p:nvSpPr>
        <p:spPr>
          <a:xfrm>
            <a:off x="9716400" y="5588640"/>
            <a:ext cx="334800" cy="334800"/>
          </a:xfrm>
          <a:custGeom>
            <a:avLst/>
            <a:gdLst>
              <a:gd name="textAreaLeft" fmla="*/ 0 w 334800"/>
              <a:gd name="textAreaRight" fmla="*/ 335880 w 334800"/>
              <a:gd name="textAreaTop" fmla="*/ 0 h 334800"/>
              <a:gd name="textAreaBottom" fmla="*/ 335880 h 334800"/>
            </a:gdLst>
            <a:ahLst/>
            <a:rect l="textAreaLeft" t="textAreaTop" r="textAreaRight" b="textAreaBottom"/>
            <a:pathLst>
              <a:path w="335756" h="335756">
                <a:moveTo>
                  <a:pt x="0" y="0"/>
                </a:moveTo>
                <a:lnTo>
                  <a:pt x="335756" y="0"/>
                </a:lnTo>
                <a:lnTo>
                  <a:pt x="335756" y="335757"/>
                </a:lnTo>
                <a:lnTo>
                  <a:pt x="0" y="335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35"/>
          <p:cNvSpPr/>
          <p:nvPr/>
        </p:nvSpPr>
        <p:spPr>
          <a:xfrm>
            <a:off x="9511200" y="6338160"/>
            <a:ext cx="3108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9"/>
              </a:lnSpc>
            </a:pPr>
            <a:r>
              <a:rPr b="0" lang="en-US" sz="2430" spc="-1" strike="noStrike">
                <a:solidFill>
                  <a:srgbClr val="2c3249"/>
                </a:solidFill>
                <a:latin typeface="arial"/>
                <a:ea typeface="arial"/>
              </a:rPr>
              <a:t>Apache Kafka</a:t>
            </a:r>
            <a:endParaRPr b="0" lang="en-IN" sz="243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" name="Group 36"/>
          <p:cNvGrpSpPr/>
          <p:nvPr/>
        </p:nvGrpSpPr>
        <p:grpSpPr>
          <a:xfrm>
            <a:off x="865800" y="7207920"/>
            <a:ext cx="8172720" cy="1877760"/>
            <a:chOff x="865800" y="7207920"/>
            <a:chExt cx="8172720" cy="1877760"/>
          </a:xfrm>
        </p:grpSpPr>
        <p:sp>
          <p:nvSpPr>
            <p:cNvPr id="91" name="Freeform 37"/>
            <p:cNvSpPr/>
            <p:nvPr/>
          </p:nvSpPr>
          <p:spPr>
            <a:xfrm>
              <a:off x="870480" y="7212600"/>
              <a:ext cx="8163360" cy="1868400"/>
            </a:xfrm>
            <a:custGeom>
              <a:avLst/>
              <a:gdLst>
                <a:gd name="textAreaLeft" fmla="*/ 0 w 8163360"/>
                <a:gd name="textAreaRight" fmla="*/ 8164440 w 8163360"/>
                <a:gd name="textAreaTop" fmla="*/ 0 h 1868400"/>
                <a:gd name="textAreaBottom" fmla="*/ 1869480 h 1868400"/>
              </a:gdLst>
              <a:ahLst/>
              <a:rect l="textAreaLeft" t="textAreaTop" r="textAreaRight" b="textAreaBottom"/>
              <a:pathLst>
                <a:path w="10885805" h="2492629">
                  <a:moveTo>
                    <a:pt x="0" y="139319"/>
                  </a:moveTo>
                  <a:cubicBezTo>
                    <a:pt x="0" y="62357"/>
                    <a:pt x="62611" y="0"/>
                    <a:pt x="139827" y="0"/>
                  </a:cubicBezTo>
                  <a:lnTo>
                    <a:pt x="10745978" y="0"/>
                  </a:lnTo>
                  <a:cubicBezTo>
                    <a:pt x="10823194" y="0"/>
                    <a:pt x="10885805" y="62357"/>
                    <a:pt x="10885805" y="139319"/>
                  </a:cubicBezTo>
                  <a:lnTo>
                    <a:pt x="10885805" y="2353310"/>
                  </a:lnTo>
                  <a:cubicBezTo>
                    <a:pt x="10885805" y="2430272"/>
                    <a:pt x="10823194" y="2492629"/>
                    <a:pt x="10745978" y="2492629"/>
                  </a:cubicBezTo>
                  <a:lnTo>
                    <a:pt x="139827" y="2492629"/>
                  </a:lnTo>
                  <a:cubicBezTo>
                    <a:pt x="62611" y="2492629"/>
                    <a:pt x="0" y="2430145"/>
                    <a:pt x="0" y="2353310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Freeform 38"/>
            <p:cNvSpPr/>
            <p:nvPr/>
          </p:nvSpPr>
          <p:spPr>
            <a:xfrm>
              <a:off x="865800" y="7207920"/>
              <a:ext cx="8172720" cy="1877760"/>
            </a:xfrm>
            <a:custGeom>
              <a:avLst/>
              <a:gdLst>
                <a:gd name="textAreaLeft" fmla="*/ 0 w 8172720"/>
                <a:gd name="textAreaRight" fmla="*/ 8173800 w 8172720"/>
                <a:gd name="textAreaTop" fmla="*/ 0 h 1877760"/>
                <a:gd name="textAreaBottom" fmla="*/ 1878840 h 1877760"/>
              </a:gdLst>
              <a:ahLst/>
              <a:rect l="textAreaLeft" t="textAreaTop" r="textAreaRight" b="textAreaBottom"/>
              <a:pathLst>
                <a:path w="10898505" h="2505329">
                  <a:moveTo>
                    <a:pt x="0" y="145669"/>
                  </a:moveTo>
                  <a:cubicBezTo>
                    <a:pt x="0" y="65151"/>
                    <a:pt x="65532" y="0"/>
                    <a:pt x="146177" y="0"/>
                  </a:cubicBezTo>
                  <a:lnTo>
                    <a:pt x="10752328" y="0"/>
                  </a:lnTo>
                  <a:lnTo>
                    <a:pt x="10752328" y="6350"/>
                  </a:lnTo>
                  <a:lnTo>
                    <a:pt x="10752328" y="0"/>
                  </a:lnTo>
                  <a:cubicBezTo>
                    <a:pt x="10833100" y="0"/>
                    <a:pt x="10898505" y="65151"/>
                    <a:pt x="10898505" y="145669"/>
                  </a:cubicBezTo>
                  <a:lnTo>
                    <a:pt x="10892155" y="145669"/>
                  </a:lnTo>
                  <a:lnTo>
                    <a:pt x="10898505" y="145669"/>
                  </a:lnTo>
                  <a:lnTo>
                    <a:pt x="10898505" y="2359660"/>
                  </a:lnTo>
                  <a:lnTo>
                    <a:pt x="10892155" y="2359660"/>
                  </a:lnTo>
                  <a:lnTo>
                    <a:pt x="10898505" y="2359660"/>
                  </a:lnTo>
                  <a:cubicBezTo>
                    <a:pt x="10898505" y="2440178"/>
                    <a:pt x="10832973" y="2505329"/>
                    <a:pt x="10752328" y="2505329"/>
                  </a:cubicBezTo>
                  <a:lnTo>
                    <a:pt x="10752328" y="2498979"/>
                  </a:lnTo>
                  <a:lnTo>
                    <a:pt x="10752328" y="2505329"/>
                  </a:lnTo>
                  <a:lnTo>
                    <a:pt x="146177" y="2505329"/>
                  </a:lnTo>
                  <a:lnTo>
                    <a:pt x="146177" y="2498979"/>
                  </a:lnTo>
                  <a:lnTo>
                    <a:pt x="146177" y="2505329"/>
                  </a:lnTo>
                  <a:cubicBezTo>
                    <a:pt x="65532" y="2505329"/>
                    <a:pt x="0" y="2440051"/>
                    <a:pt x="0" y="2359660"/>
                  </a:cubicBezTo>
                  <a:lnTo>
                    <a:pt x="0" y="145669"/>
                  </a:lnTo>
                  <a:lnTo>
                    <a:pt x="6350" y="145669"/>
                  </a:lnTo>
                  <a:lnTo>
                    <a:pt x="0" y="145669"/>
                  </a:lnTo>
                  <a:moveTo>
                    <a:pt x="12700" y="145669"/>
                  </a:moveTo>
                  <a:lnTo>
                    <a:pt x="12700" y="2359660"/>
                  </a:lnTo>
                  <a:lnTo>
                    <a:pt x="6350" y="2359660"/>
                  </a:lnTo>
                  <a:lnTo>
                    <a:pt x="12700" y="2359660"/>
                  </a:lnTo>
                  <a:cubicBezTo>
                    <a:pt x="12700" y="2433066"/>
                    <a:pt x="72390" y="2492629"/>
                    <a:pt x="146177" y="2492629"/>
                  </a:cubicBezTo>
                  <a:lnTo>
                    <a:pt x="10752328" y="2492629"/>
                  </a:lnTo>
                  <a:cubicBezTo>
                    <a:pt x="10826115" y="2492629"/>
                    <a:pt x="10885805" y="2433066"/>
                    <a:pt x="10885805" y="2359660"/>
                  </a:cubicBezTo>
                  <a:lnTo>
                    <a:pt x="10885805" y="145669"/>
                  </a:lnTo>
                  <a:cubicBezTo>
                    <a:pt x="10885805" y="72263"/>
                    <a:pt x="10826115" y="12700"/>
                    <a:pt x="10752328" y="12700"/>
                  </a:cubicBezTo>
                  <a:lnTo>
                    <a:pt x="146177" y="12700"/>
                  </a:lnTo>
                  <a:lnTo>
                    <a:pt x="146177" y="6350"/>
                  </a:lnTo>
                  <a:lnTo>
                    <a:pt x="146177" y="12700"/>
                  </a:lnTo>
                  <a:cubicBezTo>
                    <a:pt x="72390" y="12700"/>
                    <a:pt x="12700" y="72263"/>
                    <a:pt x="12700" y="14566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" name="Group 39"/>
          <p:cNvGrpSpPr/>
          <p:nvPr/>
        </p:nvGrpSpPr>
        <p:grpSpPr>
          <a:xfrm>
            <a:off x="1128600" y="7470720"/>
            <a:ext cx="745200" cy="745200"/>
            <a:chOff x="1128600" y="7470720"/>
            <a:chExt cx="745200" cy="745200"/>
          </a:xfrm>
        </p:grpSpPr>
        <p:sp>
          <p:nvSpPr>
            <p:cNvPr id="94" name="Freeform 40"/>
            <p:cNvSpPr/>
            <p:nvPr/>
          </p:nvSpPr>
          <p:spPr>
            <a:xfrm>
              <a:off x="1128600" y="7470720"/>
              <a:ext cx="745200" cy="745200"/>
            </a:xfrm>
            <a:custGeom>
              <a:avLst/>
              <a:gdLst>
                <a:gd name="textAreaLeft" fmla="*/ 0 w 745200"/>
                <a:gd name="textAreaRight" fmla="*/ 746280 w 745200"/>
                <a:gd name="textAreaTop" fmla="*/ 0 h 745200"/>
                <a:gd name="textAreaBottom" fmla="*/ 746280 h 745200"/>
              </a:gdLst>
              <a:ahLst/>
              <a:rect l="textAreaLeft" t="textAreaTop" r="textAreaRight" b="textAreaBottom"/>
              <a:pathLst>
                <a:path w="994918" h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5" name="Freeform 41"/>
          <p:cNvSpPr/>
          <p:nvPr/>
        </p:nvSpPr>
        <p:spPr>
          <a:xfrm>
            <a:off x="1333800" y="7676280"/>
            <a:ext cx="334800" cy="334800"/>
          </a:xfrm>
          <a:custGeom>
            <a:avLst/>
            <a:gdLst>
              <a:gd name="textAreaLeft" fmla="*/ 0 w 334800"/>
              <a:gd name="textAreaRight" fmla="*/ 335880 w 334800"/>
              <a:gd name="textAreaTop" fmla="*/ 0 h 334800"/>
              <a:gd name="textAreaBottom" fmla="*/ 335880 h 334800"/>
            </a:gdLst>
            <a:ahLst/>
            <a:rect l="textAreaLeft" t="textAreaTop" r="textAreaRight" b="textAreaBottom"/>
            <a:pathLst>
              <a:path w="335756" h="335756">
                <a:moveTo>
                  <a:pt x="0" y="0"/>
                </a:moveTo>
                <a:lnTo>
                  <a:pt x="335756" y="0"/>
                </a:lnTo>
                <a:lnTo>
                  <a:pt x="335756" y="335756"/>
                </a:lnTo>
                <a:lnTo>
                  <a:pt x="0" y="3357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42"/>
          <p:cNvSpPr/>
          <p:nvPr/>
        </p:nvSpPr>
        <p:spPr>
          <a:xfrm>
            <a:off x="1128600" y="8425800"/>
            <a:ext cx="3108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9"/>
              </a:lnSpc>
            </a:pPr>
            <a:r>
              <a:rPr b="0" lang="en-US" sz="2430" spc="-1" strike="noStrike">
                <a:solidFill>
                  <a:srgbClr val="2c3249"/>
                </a:solidFill>
                <a:latin typeface="arial"/>
                <a:ea typeface="arial"/>
              </a:rPr>
              <a:t>Apache Spark</a:t>
            </a:r>
            <a:endParaRPr b="0" lang="en-IN" sz="243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7" name="Group 43"/>
          <p:cNvGrpSpPr/>
          <p:nvPr/>
        </p:nvGrpSpPr>
        <p:grpSpPr>
          <a:xfrm>
            <a:off x="9248400" y="7207920"/>
            <a:ext cx="8172720" cy="1877760"/>
            <a:chOff x="9248400" y="7207920"/>
            <a:chExt cx="8172720" cy="1877760"/>
          </a:xfrm>
        </p:grpSpPr>
        <p:sp>
          <p:nvSpPr>
            <p:cNvPr id="98" name="Freeform 44"/>
            <p:cNvSpPr/>
            <p:nvPr/>
          </p:nvSpPr>
          <p:spPr>
            <a:xfrm>
              <a:off x="9253080" y="7212600"/>
              <a:ext cx="8163360" cy="1868400"/>
            </a:xfrm>
            <a:custGeom>
              <a:avLst/>
              <a:gdLst>
                <a:gd name="textAreaLeft" fmla="*/ 0 w 8163360"/>
                <a:gd name="textAreaRight" fmla="*/ 8164440 w 8163360"/>
                <a:gd name="textAreaTop" fmla="*/ 0 h 1868400"/>
                <a:gd name="textAreaBottom" fmla="*/ 1869480 h 1868400"/>
              </a:gdLst>
              <a:ahLst/>
              <a:rect l="textAreaLeft" t="textAreaTop" r="textAreaRight" b="textAreaBottom"/>
              <a:pathLst>
                <a:path w="10885805" h="2492629">
                  <a:moveTo>
                    <a:pt x="0" y="139319"/>
                  </a:moveTo>
                  <a:cubicBezTo>
                    <a:pt x="0" y="62357"/>
                    <a:pt x="62611" y="0"/>
                    <a:pt x="139827" y="0"/>
                  </a:cubicBezTo>
                  <a:lnTo>
                    <a:pt x="10745978" y="0"/>
                  </a:lnTo>
                  <a:cubicBezTo>
                    <a:pt x="10823194" y="0"/>
                    <a:pt x="10885805" y="62357"/>
                    <a:pt x="10885805" y="139319"/>
                  </a:cubicBezTo>
                  <a:lnTo>
                    <a:pt x="10885805" y="2353310"/>
                  </a:lnTo>
                  <a:cubicBezTo>
                    <a:pt x="10885805" y="2430272"/>
                    <a:pt x="10823194" y="2492629"/>
                    <a:pt x="10745978" y="2492629"/>
                  </a:cubicBezTo>
                  <a:lnTo>
                    <a:pt x="139827" y="2492629"/>
                  </a:lnTo>
                  <a:cubicBezTo>
                    <a:pt x="62611" y="2492629"/>
                    <a:pt x="0" y="2430145"/>
                    <a:pt x="0" y="2353310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Freeform 45"/>
            <p:cNvSpPr/>
            <p:nvPr/>
          </p:nvSpPr>
          <p:spPr>
            <a:xfrm>
              <a:off x="9248400" y="7207920"/>
              <a:ext cx="8172720" cy="1877760"/>
            </a:xfrm>
            <a:custGeom>
              <a:avLst/>
              <a:gdLst>
                <a:gd name="textAreaLeft" fmla="*/ 0 w 8172720"/>
                <a:gd name="textAreaRight" fmla="*/ 8173800 w 8172720"/>
                <a:gd name="textAreaTop" fmla="*/ 0 h 1877760"/>
                <a:gd name="textAreaBottom" fmla="*/ 1878840 h 1877760"/>
              </a:gdLst>
              <a:ahLst/>
              <a:rect l="textAreaLeft" t="textAreaTop" r="textAreaRight" b="textAreaBottom"/>
              <a:pathLst>
                <a:path w="10898505" h="2505329">
                  <a:moveTo>
                    <a:pt x="0" y="145669"/>
                  </a:moveTo>
                  <a:cubicBezTo>
                    <a:pt x="0" y="65151"/>
                    <a:pt x="65532" y="0"/>
                    <a:pt x="146177" y="0"/>
                  </a:cubicBezTo>
                  <a:lnTo>
                    <a:pt x="10752328" y="0"/>
                  </a:lnTo>
                  <a:lnTo>
                    <a:pt x="10752328" y="6350"/>
                  </a:lnTo>
                  <a:lnTo>
                    <a:pt x="10752328" y="0"/>
                  </a:lnTo>
                  <a:cubicBezTo>
                    <a:pt x="10833100" y="0"/>
                    <a:pt x="10898505" y="65151"/>
                    <a:pt x="10898505" y="145669"/>
                  </a:cubicBezTo>
                  <a:lnTo>
                    <a:pt x="10892155" y="145669"/>
                  </a:lnTo>
                  <a:lnTo>
                    <a:pt x="10898505" y="145669"/>
                  </a:lnTo>
                  <a:lnTo>
                    <a:pt x="10898505" y="2359660"/>
                  </a:lnTo>
                  <a:lnTo>
                    <a:pt x="10892155" y="2359660"/>
                  </a:lnTo>
                  <a:lnTo>
                    <a:pt x="10898505" y="2359660"/>
                  </a:lnTo>
                  <a:cubicBezTo>
                    <a:pt x="10898505" y="2440178"/>
                    <a:pt x="10832973" y="2505329"/>
                    <a:pt x="10752328" y="2505329"/>
                  </a:cubicBezTo>
                  <a:lnTo>
                    <a:pt x="10752328" y="2498979"/>
                  </a:lnTo>
                  <a:lnTo>
                    <a:pt x="10752328" y="2505329"/>
                  </a:lnTo>
                  <a:lnTo>
                    <a:pt x="146177" y="2505329"/>
                  </a:lnTo>
                  <a:lnTo>
                    <a:pt x="146177" y="2498979"/>
                  </a:lnTo>
                  <a:lnTo>
                    <a:pt x="146177" y="2505329"/>
                  </a:lnTo>
                  <a:cubicBezTo>
                    <a:pt x="65532" y="2505329"/>
                    <a:pt x="0" y="2440051"/>
                    <a:pt x="0" y="2359660"/>
                  </a:cubicBezTo>
                  <a:lnTo>
                    <a:pt x="0" y="145669"/>
                  </a:lnTo>
                  <a:lnTo>
                    <a:pt x="6350" y="145669"/>
                  </a:lnTo>
                  <a:lnTo>
                    <a:pt x="0" y="145669"/>
                  </a:lnTo>
                  <a:moveTo>
                    <a:pt x="12700" y="145669"/>
                  </a:moveTo>
                  <a:lnTo>
                    <a:pt x="12700" y="2359660"/>
                  </a:lnTo>
                  <a:lnTo>
                    <a:pt x="6350" y="2359660"/>
                  </a:lnTo>
                  <a:lnTo>
                    <a:pt x="12700" y="2359660"/>
                  </a:lnTo>
                  <a:cubicBezTo>
                    <a:pt x="12700" y="2433066"/>
                    <a:pt x="72390" y="2492629"/>
                    <a:pt x="146177" y="2492629"/>
                  </a:cubicBezTo>
                  <a:lnTo>
                    <a:pt x="10752328" y="2492629"/>
                  </a:lnTo>
                  <a:cubicBezTo>
                    <a:pt x="10826115" y="2492629"/>
                    <a:pt x="10885805" y="2433066"/>
                    <a:pt x="10885805" y="2359660"/>
                  </a:cubicBezTo>
                  <a:lnTo>
                    <a:pt x="10885805" y="145669"/>
                  </a:lnTo>
                  <a:cubicBezTo>
                    <a:pt x="10885805" y="72263"/>
                    <a:pt x="10826115" y="12700"/>
                    <a:pt x="10752328" y="12700"/>
                  </a:cubicBezTo>
                  <a:lnTo>
                    <a:pt x="146177" y="12700"/>
                  </a:lnTo>
                  <a:lnTo>
                    <a:pt x="146177" y="6350"/>
                  </a:lnTo>
                  <a:lnTo>
                    <a:pt x="146177" y="12700"/>
                  </a:lnTo>
                  <a:cubicBezTo>
                    <a:pt x="72390" y="12700"/>
                    <a:pt x="12700" y="72263"/>
                    <a:pt x="12700" y="14566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" name="Group 46"/>
          <p:cNvGrpSpPr/>
          <p:nvPr/>
        </p:nvGrpSpPr>
        <p:grpSpPr>
          <a:xfrm>
            <a:off x="9511200" y="7470720"/>
            <a:ext cx="745200" cy="745200"/>
            <a:chOff x="9511200" y="7470720"/>
            <a:chExt cx="745200" cy="745200"/>
          </a:xfrm>
        </p:grpSpPr>
        <p:sp>
          <p:nvSpPr>
            <p:cNvPr id="101" name="Freeform 47"/>
            <p:cNvSpPr/>
            <p:nvPr/>
          </p:nvSpPr>
          <p:spPr>
            <a:xfrm>
              <a:off x="9511200" y="7470720"/>
              <a:ext cx="745200" cy="745200"/>
            </a:xfrm>
            <a:custGeom>
              <a:avLst/>
              <a:gdLst>
                <a:gd name="textAreaLeft" fmla="*/ 0 w 745200"/>
                <a:gd name="textAreaRight" fmla="*/ 746280 w 745200"/>
                <a:gd name="textAreaTop" fmla="*/ 0 h 745200"/>
                <a:gd name="textAreaBottom" fmla="*/ 746280 h 745200"/>
              </a:gdLst>
              <a:ahLst/>
              <a:rect l="textAreaLeft" t="textAreaTop" r="textAreaRight" b="textAreaBottom"/>
              <a:pathLst>
                <a:path w="994918" h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2" name="Freeform 48"/>
          <p:cNvSpPr/>
          <p:nvPr/>
        </p:nvSpPr>
        <p:spPr>
          <a:xfrm>
            <a:off x="9716400" y="7676280"/>
            <a:ext cx="334800" cy="334800"/>
          </a:xfrm>
          <a:custGeom>
            <a:avLst/>
            <a:gdLst>
              <a:gd name="textAreaLeft" fmla="*/ 0 w 334800"/>
              <a:gd name="textAreaRight" fmla="*/ 335880 w 334800"/>
              <a:gd name="textAreaTop" fmla="*/ 0 h 334800"/>
              <a:gd name="textAreaBottom" fmla="*/ 335880 h 334800"/>
            </a:gdLst>
            <a:ahLst/>
            <a:rect l="textAreaLeft" t="textAreaTop" r="textAreaRight" b="textAreaBottom"/>
            <a:pathLst>
              <a:path w="335756" h="335756">
                <a:moveTo>
                  <a:pt x="0" y="0"/>
                </a:moveTo>
                <a:lnTo>
                  <a:pt x="335756" y="0"/>
                </a:lnTo>
                <a:lnTo>
                  <a:pt x="335756" y="335756"/>
                </a:lnTo>
                <a:lnTo>
                  <a:pt x="0" y="3357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49"/>
          <p:cNvSpPr/>
          <p:nvPr/>
        </p:nvSpPr>
        <p:spPr>
          <a:xfrm>
            <a:off x="9511200" y="8425800"/>
            <a:ext cx="3108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9"/>
              </a:lnSpc>
            </a:pPr>
            <a:r>
              <a:rPr b="0" lang="en-US" sz="2430" spc="-1" strike="noStrike">
                <a:solidFill>
                  <a:srgbClr val="2c3249"/>
                </a:solidFill>
                <a:latin typeface="arial"/>
                <a:ea typeface="arial"/>
              </a:rPr>
              <a:t>MinIO</a:t>
            </a:r>
            <a:endParaRPr b="0" lang="en-IN" sz="2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105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107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8" name="Group 6"/>
          <p:cNvGrpSpPr/>
          <p:nvPr/>
        </p:nvGrpSpPr>
        <p:grpSpPr>
          <a:xfrm>
            <a:off x="11430000" y="0"/>
            <a:ext cx="6856920" cy="10285920"/>
            <a:chOff x="11430000" y="0"/>
            <a:chExt cx="6856920" cy="10285920"/>
          </a:xfrm>
        </p:grpSpPr>
        <p:sp>
          <p:nvSpPr>
            <p:cNvPr id="109" name="Freeform 7"/>
            <p:cNvSpPr/>
            <p:nvPr/>
          </p:nvSpPr>
          <p:spPr>
            <a:xfrm>
              <a:off x="11430000" y="0"/>
              <a:ext cx="6856920" cy="10285920"/>
            </a:xfrm>
            <a:custGeom>
              <a:avLst/>
              <a:gdLst>
                <a:gd name="textAreaLeft" fmla="*/ 0 w 6856920"/>
                <a:gd name="textAreaRight" fmla="*/ 6858000 w 685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" name="TextBox 8"/>
          <p:cNvSpPr/>
          <p:nvPr/>
        </p:nvSpPr>
        <p:spPr>
          <a:xfrm>
            <a:off x="776160" y="1304640"/>
            <a:ext cx="55422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37"/>
              </a:lnSpc>
            </a:pPr>
            <a:r>
              <a:rPr b="0" lang="en-US" sz="4310" spc="-1" strike="noStrike">
                <a:solidFill>
                  <a:srgbClr val="272d45"/>
                </a:solidFill>
                <a:latin typeface="arial"/>
                <a:ea typeface="arial"/>
              </a:rPr>
              <a:t>Project Overview</a:t>
            </a:r>
            <a:endParaRPr b="0" lang="en-IN" sz="43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9"/>
          <p:cNvSpPr/>
          <p:nvPr/>
        </p:nvSpPr>
        <p:spPr>
          <a:xfrm>
            <a:off x="776160" y="2257560"/>
            <a:ext cx="987696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38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This full-stack e-commerce platform integrates real-time event streaming and analytics capabilities. The system processes 30+ products, serves 50+ users, and handles 100+ orders with continuous event tracking across the customer journey.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776160" y="3635280"/>
            <a:ext cx="31471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749"/>
              </a:lnSpc>
            </a:pPr>
            <a:r>
              <a:rPr b="0" lang="en-US" sz="5750" spc="-1" strike="noStrike">
                <a:solidFill>
                  <a:srgbClr val="2c3249"/>
                </a:solidFill>
                <a:latin typeface="arial"/>
                <a:ea typeface="arial"/>
              </a:rPr>
              <a:t>30+</a:t>
            </a:r>
            <a:endParaRPr b="0" lang="en-IN" sz="5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1"/>
          <p:cNvSpPr/>
          <p:nvPr/>
        </p:nvSpPr>
        <p:spPr>
          <a:xfrm>
            <a:off x="964080" y="4502880"/>
            <a:ext cx="277056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87"/>
              </a:lnSpc>
            </a:pPr>
            <a:r>
              <a:rPr b="0" lang="en-US" sz="2130" spc="-1" strike="noStrike">
                <a:solidFill>
                  <a:srgbClr val="2c3249"/>
                </a:solidFill>
                <a:latin typeface="arial"/>
                <a:ea typeface="arial"/>
              </a:rPr>
              <a:t>Products</a:t>
            </a:r>
            <a:endParaRPr b="0" lang="en-IN" sz="2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776160" y="4934160"/>
            <a:ext cx="31471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38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Catalog items with search and filtering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3"/>
          <p:cNvSpPr/>
          <p:nvPr/>
        </p:nvSpPr>
        <p:spPr>
          <a:xfrm>
            <a:off x="4140720" y="3635280"/>
            <a:ext cx="31471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749"/>
              </a:lnSpc>
            </a:pPr>
            <a:r>
              <a:rPr b="0" lang="en-US" sz="5750" spc="-1" strike="noStrike">
                <a:solidFill>
                  <a:srgbClr val="2c3249"/>
                </a:solidFill>
                <a:latin typeface="arial"/>
                <a:ea typeface="arial"/>
              </a:rPr>
              <a:t>50+</a:t>
            </a:r>
            <a:endParaRPr b="0" lang="en-IN" sz="5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4"/>
          <p:cNvSpPr/>
          <p:nvPr/>
        </p:nvSpPr>
        <p:spPr>
          <a:xfrm>
            <a:off x="4329000" y="4502880"/>
            <a:ext cx="277056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87"/>
              </a:lnSpc>
            </a:pPr>
            <a:r>
              <a:rPr b="0" lang="en-US" sz="2130" spc="-1" strike="noStrike">
                <a:solidFill>
                  <a:srgbClr val="2c3249"/>
                </a:solidFill>
                <a:latin typeface="arial"/>
                <a:ea typeface="arial"/>
              </a:rPr>
              <a:t>Users</a:t>
            </a:r>
            <a:endParaRPr b="0" lang="en-IN" sz="2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5"/>
          <p:cNvSpPr/>
          <p:nvPr/>
        </p:nvSpPr>
        <p:spPr>
          <a:xfrm>
            <a:off x="4140720" y="4934160"/>
            <a:ext cx="31471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38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Active customer accounts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6"/>
          <p:cNvSpPr/>
          <p:nvPr/>
        </p:nvSpPr>
        <p:spPr>
          <a:xfrm>
            <a:off x="7505640" y="3635280"/>
            <a:ext cx="31471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749"/>
              </a:lnSpc>
            </a:pPr>
            <a:r>
              <a:rPr b="0" lang="en-US" sz="5750" spc="-1" strike="noStrike">
                <a:solidFill>
                  <a:srgbClr val="2c3249"/>
                </a:solidFill>
                <a:latin typeface="arial"/>
                <a:ea typeface="arial"/>
              </a:rPr>
              <a:t>100+</a:t>
            </a:r>
            <a:endParaRPr b="0" lang="en-IN" sz="5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7"/>
          <p:cNvSpPr/>
          <p:nvPr/>
        </p:nvSpPr>
        <p:spPr>
          <a:xfrm>
            <a:off x="7693920" y="4502880"/>
            <a:ext cx="277056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87"/>
              </a:lnSpc>
            </a:pPr>
            <a:r>
              <a:rPr b="0" lang="en-US" sz="2130" spc="-1" strike="noStrike">
                <a:solidFill>
                  <a:srgbClr val="2c3249"/>
                </a:solidFill>
                <a:latin typeface="arial"/>
                <a:ea typeface="arial"/>
              </a:rPr>
              <a:t>Orders</a:t>
            </a:r>
            <a:endParaRPr b="0" lang="en-IN" sz="2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8"/>
          <p:cNvSpPr/>
          <p:nvPr/>
        </p:nvSpPr>
        <p:spPr>
          <a:xfrm>
            <a:off x="7505640" y="4934160"/>
            <a:ext cx="31471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38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Processed transactions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9"/>
          <p:cNvSpPr/>
          <p:nvPr/>
        </p:nvSpPr>
        <p:spPr>
          <a:xfrm>
            <a:off x="4140720" y="6147720"/>
            <a:ext cx="31471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749"/>
              </a:lnSpc>
            </a:pPr>
            <a:r>
              <a:rPr b="0" lang="en-US" sz="5750" spc="-1" strike="noStrike">
                <a:solidFill>
                  <a:srgbClr val="2c3249"/>
                </a:solidFill>
                <a:latin typeface="arial"/>
                <a:ea typeface="arial"/>
              </a:rPr>
              <a:t>5</a:t>
            </a:r>
            <a:endParaRPr b="0" lang="en-IN" sz="5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0"/>
          <p:cNvSpPr/>
          <p:nvPr/>
        </p:nvSpPr>
        <p:spPr>
          <a:xfrm>
            <a:off x="4329000" y="7015320"/>
            <a:ext cx="277056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87"/>
              </a:lnSpc>
            </a:pPr>
            <a:r>
              <a:rPr b="0" lang="en-US" sz="2130" spc="-1" strike="noStrike">
                <a:solidFill>
                  <a:srgbClr val="2c3249"/>
                </a:solidFill>
                <a:latin typeface="arial"/>
                <a:ea typeface="arial"/>
              </a:rPr>
              <a:t>Services</a:t>
            </a:r>
            <a:endParaRPr b="0" lang="en-IN" sz="2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1"/>
          <p:cNvSpPr/>
          <p:nvPr/>
        </p:nvSpPr>
        <p:spPr>
          <a:xfrm>
            <a:off x="4140720" y="7446600"/>
            <a:ext cx="31471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38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Integrated technologies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2"/>
          <p:cNvSpPr/>
          <p:nvPr/>
        </p:nvSpPr>
        <p:spPr>
          <a:xfrm>
            <a:off x="776160" y="7957800"/>
            <a:ext cx="987696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38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The platform combines a MERN stack frontend with Kafka for message brokering, Spark for stream processing, and MinIO for data lake storage—creating a complete real-time analytics solution.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126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7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128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9" name="TextBox 6"/>
          <p:cNvSpPr/>
          <p:nvPr/>
        </p:nvSpPr>
        <p:spPr>
          <a:xfrm>
            <a:off x="1947240" y="1477440"/>
            <a:ext cx="7918920" cy="6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25"/>
              </a:lnSpc>
            </a:pPr>
            <a:r>
              <a:rPr b="0" lang="en-US" sz="4059" spc="-1" strike="noStrike">
                <a:solidFill>
                  <a:srgbClr val="272d45"/>
                </a:solidFill>
                <a:latin typeface="arial"/>
                <a:ea typeface="arial"/>
              </a:rPr>
              <a:t>Application Features Implemented</a:t>
            </a:r>
            <a:endParaRPr b="0" lang="en-IN" sz="405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roup 7"/>
          <p:cNvGrpSpPr/>
          <p:nvPr/>
        </p:nvGrpSpPr>
        <p:grpSpPr>
          <a:xfrm>
            <a:off x="1947240" y="3023280"/>
            <a:ext cx="9176400" cy="5121000"/>
            <a:chOff x="1947240" y="3023280"/>
            <a:chExt cx="9176400" cy="5121000"/>
          </a:xfrm>
        </p:grpSpPr>
        <p:sp>
          <p:nvSpPr>
            <p:cNvPr id="131" name="Freeform 8"/>
            <p:cNvSpPr/>
            <p:nvPr/>
          </p:nvSpPr>
          <p:spPr>
            <a:xfrm>
              <a:off x="1947240" y="3023280"/>
              <a:ext cx="9176400" cy="5121000"/>
            </a:xfrm>
            <a:custGeom>
              <a:avLst/>
              <a:gdLst>
                <a:gd name="textAreaLeft" fmla="*/ 0 w 9176400"/>
                <a:gd name="textAreaRight" fmla="*/ 9177480 w 9176400"/>
                <a:gd name="textAreaTop" fmla="*/ 0 h 5121000"/>
                <a:gd name="textAreaBottom" fmla="*/ 5122080 h 5121000"/>
              </a:gdLst>
              <a:ahLst/>
              <a:rect l="textAreaLeft" t="textAreaTop" r="textAreaRight" b="textAreaBottom"/>
              <a:pathLst>
                <a:path w="12236450" h="6829679">
                  <a:moveTo>
                    <a:pt x="0" y="0"/>
                  </a:moveTo>
                  <a:lnTo>
                    <a:pt x="12236450" y="0"/>
                  </a:lnTo>
                  <a:lnTo>
                    <a:pt x="12236450" y="6829679"/>
                  </a:lnTo>
                  <a:lnTo>
                    <a:pt x="0" y="682967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" name="Group 9"/>
          <p:cNvGrpSpPr/>
          <p:nvPr/>
        </p:nvGrpSpPr>
        <p:grpSpPr>
          <a:xfrm>
            <a:off x="11638080" y="2574720"/>
            <a:ext cx="477720" cy="477720"/>
            <a:chOff x="11638080" y="2574720"/>
            <a:chExt cx="477720" cy="477720"/>
          </a:xfrm>
        </p:grpSpPr>
        <p:sp>
          <p:nvSpPr>
            <p:cNvPr id="133" name="Freeform 10"/>
            <p:cNvSpPr/>
            <p:nvPr/>
          </p:nvSpPr>
          <p:spPr>
            <a:xfrm>
              <a:off x="11643120" y="2579760"/>
              <a:ext cx="468360" cy="468360"/>
            </a:xfrm>
            <a:custGeom>
              <a:avLst/>
              <a:gdLst>
                <a:gd name="textAreaLeft" fmla="*/ 0 w 468360"/>
                <a:gd name="textAreaRight" fmla="*/ 469440 w 468360"/>
                <a:gd name="textAreaTop" fmla="*/ 0 h 468360"/>
                <a:gd name="textAreaBottom" fmla="*/ 469440 h 468360"/>
              </a:gdLst>
              <a:ahLst/>
              <a:rect l="textAreaLeft" t="textAreaTop" r="textAreaRight" b="textAreaBottom"/>
              <a:pathLst>
                <a:path w="625729" h="625729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lnTo>
                    <a:pt x="508889" y="0"/>
                  </a:lnTo>
                  <a:cubicBezTo>
                    <a:pt x="573405" y="0"/>
                    <a:pt x="625729" y="52324"/>
                    <a:pt x="625729" y="116840"/>
                  </a:cubicBezTo>
                  <a:lnTo>
                    <a:pt x="625729" y="508889"/>
                  </a:lnTo>
                  <a:cubicBezTo>
                    <a:pt x="625729" y="573405"/>
                    <a:pt x="573405" y="625729"/>
                    <a:pt x="508889" y="625729"/>
                  </a:cubicBezTo>
                  <a:lnTo>
                    <a:pt x="116840" y="625729"/>
                  </a:lnTo>
                  <a:cubicBezTo>
                    <a:pt x="52324" y="625729"/>
                    <a:pt x="0" y="573405"/>
                    <a:pt x="0" y="508889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Freeform 11"/>
            <p:cNvSpPr/>
            <p:nvPr/>
          </p:nvSpPr>
          <p:spPr>
            <a:xfrm>
              <a:off x="11638080" y="2574720"/>
              <a:ext cx="477720" cy="477720"/>
            </a:xfrm>
            <a:custGeom>
              <a:avLst/>
              <a:gdLst>
                <a:gd name="textAreaLeft" fmla="*/ 0 w 477720"/>
                <a:gd name="textAreaRight" fmla="*/ 478800 w 477720"/>
                <a:gd name="textAreaTop" fmla="*/ 0 h 477720"/>
                <a:gd name="textAreaBottom" fmla="*/ 478800 h 477720"/>
              </a:gdLst>
              <a:ahLst/>
              <a:rect l="textAreaLeft" t="textAreaTop" r="textAreaRight" b="textAreaBottom"/>
              <a:pathLst>
                <a:path w="638429" h="638429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515239" y="0"/>
                  </a:lnTo>
                  <a:lnTo>
                    <a:pt x="515239" y="6350"/>
                  </a:lnTo>
                  <a:lnTo>
                    <a:pt x="515239" y="0"/>
                  </a:lnTo>
                  <a:cubicBezTo>
                    <a:pt x="583311" y="0"/>
                    <a:pt x="638429" y="55118"/>
                    <a:pt x="638429" y="123190"/>
                  </a:cubicBezTo>
                  <a:lnTo>
                    <a:pt x="632079" y="123190"/>
                  </a:lnTo>
                  <a:lnTo>
                    <a:pt x="638429" y="123190"/>
                  </a:lnTo>
                  <a:lnTo>
                    <a:pt x="638429" y="515239"/>
                  </a:lnTo>
                  <a:lnTo>
                    <a:pt x="632079" y="515239"/>
                  </a:lnTo>
                  <a:lnTo>
                    <a:pt x="638429" y="515239"/>
                  </a:lnTo>
                  <a:cubicBezTo>
                    <a:pt x="638429" y="583311"/>
                    <a:pt x="583311" y="638429"/>
                    <a:pt x="515239" y="638429"/>
                  </a:cubicBezTo>
                  <a:lnTo>
                    <a:pt x="515239" y="632079"/>
                  </a:lnTo>
                  <a:lnTo>
                    <a:pt x="515239" y="638429"/>
                  </a:lnTo>
                  <a:lnTo>
                    <a:pt x="123190" y="638429"/>
                  </a:lnTo>
                  <a:lnTo>
                    <a:pt x="123190" y="632079"/>
                  </a:lnTo>
                  <a:lnTo>
                    <a:pt x="123190" y="638429"/>
                  </a:lnTo>
                  <a:cubicBezTo>
                    <a:pt x="55118" y="638429"/>
                    <a:pt x="0" y="583311"/>
                    <a:pt x="0" y="515239"/>
                  </a:cubicBezTo>
                  <a:lnTo>
                    <a:pt x="0" y="123190"/>
                  </a:lnTo>
                  <a:lnTo>
                    <a:pt x="6350" y="123190"/>
                  </a:lnTo>
                  <a:lnTo>
                    <a:pt x="0" y="123190"/>
                  </a:lnTo>
                  <a:moveTo>
                    <a:pt x="12700" y="123190"/>
                  </a:moveTo>
                  <a:lnTo>
                    <a:pt x="12700" y="515239"/>
                  </a:lnTo>
                  <a:lnTo>
                    <a:pt x="6350" y="515239"/>
                  </a:lnTo>
                  <a:lnTo>
                    <a:pt x="12700" y="515239"/>
                  </a:lnTo>
                  <a:cubicBezTo>
                    <a:pt x="12700" y="576199"/>
                    <a:pt x="62103" y="625729"/>
                    <a:pt x="123190" y="625729"/>
                  </a:cubicBezTo>
                  <a:lnTo>
                    <a:pt x="515239" y="625729"/>
                  </a:lnTo>
                  <a:cubicBezTo>
                    <a:pt x="576199" y="625729"/>
                    <a:pt x="625729" y="576326"/>
                    <a:pt x="625729" y="515239"/>
                  </a:cubicBezTo>
                  <a:lnTo>
                    <a:pt x="625729" y="123190"/>
                  </a:lnTo>
                  <a:cubicBezTo>
                    <a:pt x="625729" y="62230"/>
                    <a:pt x="576326" y="12700"/>
                    <a:pt x="515239" y="12700"/>
                  </a:cubicBezTo>
                  <a:lnTo>
                    <a:pt x="123190" y="12700"/>
                  </a:lnTo>
                  <a:lnTo>
                    <a:pt x="123190" y="6350"/>
                  </a:lnTo>
                  <a:lnTo>
                    <a:pt x="123190" y="12700"/>
                  </a:lnTo>
                  <a:cubicBezTo>
                    <a:pt x="62103" y="12700"/>
                    <a:pt x="12700" y="62103"/>
                    <a:pt x="12700" y="12319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5" name="TextBox 12"/>
          <p:cNvSpPr/>
          <p:nvPr/>
        </p:nvSpPr>
        <p:spPr>
          <a:xfrm>
            <a:off x="12265560" y="2632320"/>
            <a:ext cx="2606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Product Catalog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12265560" y="3092400"/>
            <a:ext cx="4083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Search, filtering, and detailed product pages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7" name="Group 14"/>
          <p:cNvGrpSpPr/>
          <p:nvPr/>
        </p:nvGrpSpPr>
        <p:grpSpPr>
          <a:xfrm>
            <a:off x="11638080" y="4011840"/>
            <a:ext cx="477720" cy="477720"/>
            <a:chOff x="11638080" y="4011840"/>
            <a:chExt cx="477720" cy="477720"/>
          </a:xfrm>
        </p:grpSpPr>
        <p:sp>
          <p:nvSpPr>
            <p:cNvPr id="138" name="Freeform 15"/>
            <p:cNvSpPr/>
            <p:nvPr/>
          </p:nvSpPr>
          <p:spPr>
            <a:xfrm>
              <a:off x="11643120" y="4016880"/>
              <a:ext cx="468360" cy="468360"/>
            </a:xfrm>
            <a:custGeom>
              <a:avLst/>
              <a:gdLst>
                <a:gd name="textAreaLeft" fmla="*/ 0 w 468360"/>
                <a:gd name="textAreaRight" fmla="*/ 469440 w 468360"/>
                <a:gd name="textAreaTop" fmla="*/ 0 h 468360"/>
                <a:gd name="textAreaBottom" fmla="*/ 469440 h 468360"/>
              </a:gdLst>
              <a:ahLst/>
              <a:rect l="textAreaLeft" t="textAreaTop" r="textAreaRight" b="textAreaBottom"/>
              <a:pathLst>
                <a:path w="625729" h="625729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lnTo>
                    <a:pt x="508889" y="0"/>
                  </a:lnTo>
                  <a:cubicBezTo>
                    <a:pt x="573405" y="0"/>
                    <a:pt x="625729" y="52324"/>
                    <a:pt x="625729" y="116840"/>
                  </a:cubicBezTo>
                  <a:lnTo>
                    <a:pt x="625729" y="508889"/>
                  </a:lnTo>
                  <a:cubicBezTo>
                    <a:pt x="625729" y="573405"/>
                    <a:pt x="573405" y="625729"/>
                    <a:pt x="508889" y="625729"/>
                  </a:cubicBezTo>
                  <a:lnTo>
                    <a:pt x="116840" y="625729"/>
                  </a:lnTo>
                  <a:cubicBezTo>
                    <a:pt x="52324" y="625729"/>
                    <a:pt x="0" y="573405"/>
                    <a:pt x="0" y="508889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Freeform 16"/>
            <p:cNvSpPr/>
            <p:nvPr/>
          </p:nvSpPr>
          <p:spPr>
            <a:xfrm>
              <a:off x="11638080" y="4011840"/>
              <a:ext cx="477720" cy="477720"/>
            </a:xfrm>
            <a:custGeom>
              <a:avLst/>
              <a:gdLst>
                <a:gd name="textAreaLeft" fmla="*/ 0 w 477720"/>
                <a:gd name="textAreaRight" fmla="*/ 478800 w 477720"/>
                <a:gd name="textAreaTop" fmla="*/ 0 h 477720"/>
                <a:gd name="textAreaBottom" fmla="*/ 478800 h 477720"/>
              </a:gdLst>
              <a:ahLst/>
              <a:rect l="textAreaLeft" t="textAreaTop" r="textAreaRight" b="textAreaBottom"/>
              <a:pathLst>
                <a:path w="638429" h="638429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515239" y="0"/>
                  </a:lnTo>
                  <a:lnTo>
                    <a:pt x="515239" y="6350"/>
                  </a:lnTo>
                  <a:lnTo>
                    <a:pt x="515239" y="0"/>
                  </a:lnTo>
                  <a:cubicBezTo>
                    <a:pt x="583311" y="0"/>
                    <a:pt x="638429" y="55118"/>
                    <a:pt x="638429" y="123190"/>
                  </a:cubicBezTo>
                  <a:lnTo>
                    <a:pt x="632079" y="123190"/>
                  </a:lnTo>
                  <a:lnTo>
                    <a:pt x="638429" y="123190"/>
                  </a:lnTo>
                  <a:lnTo>
                    <a:pt x="638429" y="515239"/>
                  </a:lnTo>
                  <a:lnTo>
                    <a:pt x="632079" y="515239"/>
                  </a:lnTo>
                  <a:lnTo>
                    <a:pt x="638429" y="515239"/>
                  </a:lnTo>
                  <a:cubicBezTo>
                    <a:pt x="638429" y="583311"/>
                    <a:pt x="583311" y="638429"/>
                    <a:pt x="515239" y="638429"/>
                  </a:cubicBezTo>
                  <a:lnTo>
                    <a:pt x="515239" y="632079"/>
                  </a:lnTo>
                  <a:lnTo>
                    <a:pt x="515239" y="638429"/>
                  </a:lnTo>
                  <a:lnTo>
                    <a:pt x="123190" y="638429"/>
                  </a:lnTo>
                  <a:lnTo>
                    <a:pt x="123190" y="632079"/>
                  </a:lnTo>
                  <a:lnTo>
                    <a:pt x="123190" y="638429"/>
                  </a:lnTo>
                  <a:cubicBezTo>
                    <a:pt x="55118" y="638429"/>
                    <a:pt x="0" y="583311"/>
                    <a:pt x="0" y="515239"/>
                  </a:cubicBezTo>
                  <a:lnTo>
                    <a:pt x="0" y="123190"/>
                  </a:lnTo>
                  <a:lnTo>
                    <a:pt x="6350" y="123190"/>
                  </a:lnTo>
                  <a:lnTo>
                    <a:pt x="0" y="123190"/>
                  </a:lnTo>
                  <a:moveTo>
                    <a:pt x="12700" y="123190"/>
                  </a:moveTo>
                  <a:lnTo>
                    <a:pt x="12700" y="515239"/>
                  </a:lnTo>
                  <a:lnTo>
                    <a:pt x="6350" y="515239"/>
                  </a:lnTo>
                  <a:lnTo>
                    <a:pt x="12700" y="515239"/>
                  </a:lnTo>
                  <a:cubicBezTo>
                    <a:pt x="12700" y="576199"/>
                    <a:pt x="62103" y="625729"/>
                    <a:pt x="123190" y="625729"/>
                  </a:cubicBezTo>
                  <a:lnTo>
                    <a:pt x="515239" y="625729"/>
                  </a:lnTo>
                  <a:cubicBezTo>
                    <a:pt x="576199" y="625729"/>
                    <a:pt x="625729" y="576326"/>
                    <a:pt x="625729" y="515239"/>
                  </a:cubicBezTo>
                  <a:lnTo>
                    <a:pt x="625729" y="123190"/>
                  </a:lnTo>
                  <a:cubicBezTo>
                    <a:pt x="625729" y="62230"/>
                    <a:pt x="576326" y="12700"/>
                    <a:pt x="515239" y="12700"/>
                  </a:cubicBezTo>
                  <a:lnTo>
                    <a:pt x="123190" y="12700"/>
                  </a:lnTo>
                  <a:lnTo>
                    <a:pt x="123190" y="6350"/>
                  </a:lnTo>
                  <a:lnTo>
                    <a:pt x="123190" y="12700"/>
                  </a:lnTo>
                  <a:cubicBezTo>
                    <a:pt x="62103" y="12700"/>
                    <a:pt x="12700" y="62103"/>
                    <a:pt x="12700" y="12319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0" name="TextBox 17"/>
          <p:cNvSpPr/>
          <p:nvPr/>
        </p:nvSpPr>
        <p:spPr>
          <a:xfrm>
            <a:off x="12265560" y="4069440"/>
            <a:ext cx="2606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Shopping Cart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8"/>
          <p:cNvSpPr/>
          <p:nvPr/>
        </p:nvSpPr>
        <p:spPr>
          <a:xfrm>
            <a:off x="12265560" y="4529520"/>
            <a:ext cx="4083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Checkout system with order management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2" name="Group 19"/>
          <p:cNvGrpSpPr/>
          <p:nvPr/>
        </p:nvGrpSpPr>
        <p:grpSpPr>
          <a:xfrm>
            <a:off x="11638080" y="5448960"/>
            <a:ext cx="477720" cy="477720"/>
            <a:chOff x="11638080" y="5448960"/>
            <a:chExt cx="477720" cy="477720"/>
          </a:xfrm>
        </p:grpSpPr>
        <p:sp>
          <p:nvSpPr>
            <p:cNvPr id="143" name="Freeform 20"/>
            <p:cNvSpPr/>
            <p:nvPr/>
          </p:nvSpPr>
          <p:spPr>
            <a:xfrm>
              <a:off x="11643120" y="5453640"/>
              <a:ext cx="468360" cy="468360"/>
            </a:xfrm>
            <a:custGeom>
              <a:avLst/>
              <a:gdLst>
                <a:gd name="textAreaLeft" fmla="*/ 0 w 468360"/>
                <a:gd name="textAreaRight" fmla="*/ 469440 w 468360"/>
                <a:gd name="textAreaTop" fmla="*/ 0 h 468360"/>
                <a:gd name="textAreaBottom" fmla="*/ 469440 h 468360"/>
              </a:gdLst>
              <a:ahLst/>
              <a:rect l="textAreaLeft" t="textAreaTop" r="textAreaRight" b="textAreaBottom"/>
              <a:pathLst>
                <a:path w="625729" h="625729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lnTo>
                    <a:pt x="508889" y="0"/>
                  </a:lnTo>
                  <a:cubicBezTo>
                    <a:pt x="573405" y="0"/>
                    <a:pt x="625729" y="52324"/>
                    <a:pt x="625729" y="116840"/>
                  </a:cubicBezTo>
                  <a:lnTo>
                    <a:pt x="625729" y="508889"/>
                  </a:lnTo>
                  <a:cubicBezTo>
                    <a:pt x="625729" y="573405"/>
                    <a:pt x="573405" y="625729"/>
                    <a:pt x="508889" y="625729"/>
                  </a:cubicBezTo>
                  <a:lnTo>
                    <a:pt x="116840" y="625729"/>
                  </a:lnTo>
                  <a:cubicBezTo>
                    <a:pt x="52324" y="625729"/>
                    <a:pt x="0" y="573405"/>
                    <a:pt x="0" y="508889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Freeform 21"/>
            <p:cNvSpPr/>
            <p:nvPr/>
          </p:nvSpPr>
          <p:spPr>
            <a:xfrm>
              <a:off x="11638080" y="5448960"/>
              <a:ext cx="477720" cy="477720"/>
            </a:xfrm>
            <a:custGeom>
              <a:avLst/>
              <a:gdLst>
                <a:gd name="textAreaLeft" fmla="*/ 0 w 477720"/>
                <a:gd name="textAreaRight" fmla="*/ 478800 w 477720"/>
                <a:gd name="textAreaTop" fmla="*/ 0 h 477720"/>
                <a:gd name="textAreaBottom" fmla="*/ 478800 h 477720"/>
              </a:gdLst>
              <a:ahLst/>
              <a:rect l="textAreaLeft" t="textAreaTop" r="textAreaRight" b="textAreaBottom"/>
              <a:pathLst>
                <a:path w="638429" h="638429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515239" y="0"/>
                  </a:lnTo>
                  <a:lnTo>
                    <a:pt x="515239" y="6350"/>
                  </a:lnTo>
                  <a:lnTo>
                    <a:pt x="515239" y="0"/>
                  </a:lnTo>
                  <a:cubicBezTo>
                    <a:pt x="583311" y="0"/>
                    <a:pt x="638429" y="55118"/>
                    <a:pt x="638429" y="123190"/>
                  </a:cubicBezTo>
                  <a:lnTo>
                    <a:pt x="632079" y="123190"/>
                  </a:lnTo>
                  <a:lnTo>
                    <a:pt x="638429" y="123190"/>
                  </a:lnTo>
                  <a:lnTo>
                    <a:pt x="638429" y="515239"/>
                  </a:lnTo>
                  <a:lnTo>
                    <a:pt x="632079" y="515239"/>
                  </a:lnTo>
                  <a:lnTo>
                    <a:pt x="638429" y="515239"/>
                  </a:lnTo>
                  <a:cubicBezTo>
                    <a:pt x="638429" y="583311"/>
                    <a:pt x="583311" y="638429"/>
                    <a:pt x="515239" y="638429"/>
                  </a:cubicBezTo>
                  <a:lnTo>
                    <a:pt x="515239" y="632079"/>
                  </a:lnTo>
                  <a:lnTo>
                    <a:pt x="515239" y="638429"/>
                  </a:lnTo>
                  <a:lnTo>
                    <a:pt x="123190" y="638429"/>
                  </a:lnTo>
                  <a:lnTo>
                    <a:pt x="123190" y="632079"/>
                  </a:lnTo>
                  <a:lnTo>
                    <a:pt x="123190" y="638429"/>
                  </a:lnTo>
                  <a:cubicBezTo>
                    <a:pt x="55118" y="638429"/>
                    <a:pt x="0" y="583311"/>
                    <a:pt x="0" y="515239"/>
                  </a:cubicBezTo>
                  <a:lnTo>
                    <a:pt x="0" y="123190"/>
                  </a:lnTo>
                  <a:lnTo>
                    <a:pt x="6350" y="123190"/>
                  </a:lnTo>
                  <a:lnTo>
                    <a:pt x="0" y="123190"/>
                  </a:lnTo>
                  <a:moveTo>
                    <a:pt x="12700" y="123190"/>
                  </a:moveTo>
                  <a:lnTo>
                    <a:pt x="12700" y="515239"/>
                  </a:lnTo>
                  <a:lnTo>
                    <a:pt x="6350" y="515239"/>
                  </a:lnTo>
                  <a:lnTo>
                    <a:pt x="12700" y="515239"/>
                  </a:lnTo>
                  <a:cubicBezTo>
                    <a:pt x="12700" y="576199"/>
                    <a:pt x="62103" y="625729"/>
                    <a:pt x="123190" y="625729"/>
                  </a:cubicBezTo>
                  <a:lnTo>
                    <a:pt x="515239" y="625729"/>
                  </a:lnTo>
                  <a:cubicBezTo>
                    <a:pt x="576199" y="625729"/>
                    <a:pt x="625729" y="576326"/>
                    <a:pt x="625729" y="515239"/>
                  </a:cubicBezTo>
                  <a:lnTo>
                    <a:pt x="625729" y="123190"/>
                  </a:lnTo>
                  <a:cubicBezTo>
                    <a:pt x="625729" y="62230"/>
                    <a:pt x="576326" y="12700"/>
                    <a:pt x="515239" y="12700"/>
                  </a:cubicBezTo>
                  <a:lnTo>
                    <a:pt x="123190" y="12700"/>
                  </a:lnTo>
                  <a:lnTo>
                    <a:pt x="123190" y="6350"/>
                  </a:lnTo>
                  <a:lnTo>
                    <a:pt x="123190" y="12700"/>
                  </a:lnTo>
                  <a:cubicBezTo>
                    <a:pt x="62103" y="12700"/>
                    <a:pt x="12700" y="62103"/>
                    <a:pt x="12700" y="12319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5" name="TextBox 22"/>
          <p:cNvSpPr/>
          <p:nvPr/>
        </p:nvSpPr>
        <p:spPr>
          <a:xfrm>
            <a:off x="12265560" y="5506200"/>
            <a:ext cx="2606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Authentication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23"/>
          <p:cNvSpPr/>
          <p:nvPr/>
        </p:nvSpPr>
        <p:spPr>
          <a:xfrm>
            <a:off x="12265560" y="5966640"/>
            <a:ext cx="4083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Customer and Admin role-based access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7" name="Group 24"/>
          <p:cNvGrpSpPr/>
          <p:nvPr/>
        </p:nvGrpSpPr>
        <p:grpSpPr>
          <a:xfrm>
            <a:off x="11638080" y="6596640"/>
            <a:ext cx="477720" cy="477720"/>
            <a:chOff x="11638080" y="6596640"/>
            <a:chExt cx="477720" cy="477720"/>
          </a:xfrm>
        </p:grpSpPr>
        <p:sp>
          <p:nvSpPr>
            <p:cNvPr id="148" name="Freeform 25"/>
            <p:cNvSpPr/>
            <p:nvPr/>
          </p:nvSpPr>
          <p:spPr>
            <a:xfrm>
              <a:off x="11643120" y="6601320"/>
              <a:ext cx="468360" cy="468360"/>
            </a:xfrm>
            <a:custGeom>
              <a:avLst/>
              <a:gdLst>
                <a:gd name="textAreaLeft" fmla="*/ 0 w 468360"/>
                <a:gd name="textAreaRight" fmla="*/ 469440 w 468360"/>
                <a:gd name="textAreaTop" fmla="*/ 0 h 468360"/>
                <a:gd name="textAreaBottom" fmla="*/ 469440 h 468360"/>
              </a:gdLst>
              <a:ahLst/>
              <a:rect l="textAreaLeft" t="textAreaTop" r="textAreaRight" b="textAreaBottom"/>
              <a:pathLst>
                <a:path w="625729" h="625729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lnTo>
                    <a:pt x="508889" y="0"/>
                  </a:lnTo>
                  <a:cubicBezTo>
                    <a:pt x="573405" y="0"/>
                    <a:pt x="625729" y="52324"/>
                    <a:pt x="625729" y="116840"/>
                  </a:cubicBezTo>
                  <a:lnTo>
                    <a:pt x="625729" y="508889"/>
                  </a:lnTo>
                  <a:cubicBezTo>
                    <a:pt x="625729" y="573405"/>
                    <a:pt x="573405" y="625729"/>
                    <a:pt x="508889" y="625729"/>
                  </a:cubicBezTo>
                  <a:lnTo>
                    <a:pt x="116840" y="625729"/>
                  </a:lnTo>
                  <a:cubicBezTo>
                    <a:pt x="52324" y="625729"/>
                    <a:pt x="0" y="573405"/>
                    <a:pt x="0" y="508889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" name="Freeform 26"/>
            <p:cNvSpPr/>
            <p:nvPr/>
          </p:nvSpPr>
          <p:spPr>
            <a:xfrm>
              <a:off x="11638080" y="6596640"/>
              <a:ext cx="477720" cy="477720"/>
            </a:xfrm>
            <a:custGeom>
              <a:avLst/>
              <a:gdLst>
                <a:gd name="textAreaLeft" fmla="*/ 0 w 477720"/>
                <a:gd name="textAreaRight" fmla="*/ 478800 w 477720"/>
                <a:gd name="textAreaTop" fmla="*/ 0 h 477720"/>
                <a:gd name="textAreaBottom" fmla="*/ 478800 h 477720"/>
              </a:gdLst>
              <a:ahLst/>
              <a:rect l="textAreaLeft" t="textAreaTop" r="textAreaRight" b="textAreaBottom"/>
              <a:pathLst>
                <a:path w="638429" h="638429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515239" y="0"/>
                  </a:lnTo>
                  <a:lnTo>
                    <a:pt x="515239" y="6350"/>
                  </a:lnTo>
                  <a:lnTo>
                    <a:pt x="515239" y="0"/>
                  </a:lnTo>
                  <a:cubicBezTo>
                    <a:pt x="583311" y="0"/>
                    <a:pt x="638429" y="55118"/>
                    <a:pt x="638429" y="123190"/>
                  </a:cubicBezTo>
                  <a:lnTo>
                    <a:pt x="632079" y="123190"/>
                  </a:lnTo>
                  <a:lnTo>
                    <a:pt x="638429" y="123190"/>
                  </a:lnTo>
                  <a:lnTo>
                    <a:pt x="638429" y="515239"/>
                  </a:lnTo>
                  <a:lnTo>
                    <a:pt x="632079" y="515239"/>
                  </a:lnTo>
                  <a:lnTo>
                    <a:pt x="638429" y="515239"/>
                  </a:lnTo>
                  <a:cubicBezTo>
                    <a:pt x="638429" y="583311"/>
                    <a:pt x="583311" y="638429"/>
                    <a:pt x="515239" y="638429"/>
                  </a:cubicBezTo>
                  <a:lnTo>
                    <a:pt x="515239" y="632079"/>
                  </a:lnTo>
                  <a:lnTo>
                    <a:pt x="515239" y="638429"/>
                  </a:lnTo>
                  <a:lnTo>
                    <a:pt x="123190" y="638429"/>
                  </a:lnTo>
                  <a:lnTo>
                    <a:pt x="123190" y="632079"/>
                  </a:lnTo>
                  <a:lnTo>
                    <a:pt x="123190" y="638429"/>
                  </a:lnTo>
                  <a:cubicBezTo>
                    <a:pt x="55118" y="638429"/>
                    <a:pt x="0" y="583311"/>
                    <a:pt x="0" y="515239"/>
                  </a:cubicBezTo>
                  <a:lnTo>
                    <a:pt x="0" y="123190"/>
                  </a:lnTo>
                  <a:lnTo>
                    <a:pt x="6350" y="123190"/>
                  </a:lnTo>
                  <a:lnTo>
                    <a:pt x="0" y="123190"/>
                  </a:lnTo>
                  <a:moveTo>
                    <a:pt x="12700" y="123190"/>
                  </a:moveTo>
                  <a:lnTo>
                    <a:pt x="12700" y="515239"/>
                  </a:lnTo>
                  <a:lnTo>
                    <a:pt x="6350" y="515239"/>
                  </a:lnTo>
                  <a:lnTo>
                    <a:pt x="12700" y="515239"/>
                  </a:lnTo>
                  <a:cubicBezTo>
                    <a:pt x="12700" y="576199"/>
                    <a:pt x="62103" y="625729"/>
                    <a:pt x="123190" y="625729"/>
                  </a:cubicBezTo>
                  <a:lnTo>
                    <a:pt x="515239" y="625729"/>
                  </a:lnTo>
                  <a:cubicBezTo>
                    <a:pt x="576199" y="625729"/>
                    <a:pt x="625729" y="576326"/>
                    <a:pt x="625729" y="515239"/>
                  </a:cubicBezTo>
                  <a:lnTo>
                    <a:pt x="625729" y="123190"/>
                  </a:lnTo>
                  <a:cubicBezTo>
                    <a:pt x="625729" y="62230"/>
                    <a:pt x="576326" y="12700"/>
                    <a:pt x="515239" y="12700"/>
                  </a:cubicBezTo>
                  <a:lnTo>
                    <a:pt x="123190" y="12700"/>
                  </a:lnTo>
                  <a:lnTo>
                    <a:pt x="123190" y="6350"/>
                  </a:lnTo>
                  <a:lnTo>
                    <a:pt x="123190" y="12700"/>
                  </a:lnTo>
                  <a:cubicBezTo>
                    <a:pt x="62103" y="12700"/>
                    <a:pt x="12700" y="62103"/>
                    <a:pt x="12700" y="12319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0" name="TextBox 27"/>
          <p:cNvSpPr/>
          <p:nvPr/>
        </p:nvSpPr>
        <p:spPr>
          <a:xfrm>
            <a:off x="12265560" y="6653880"/>
            <a:ext cx="2606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Reviews &amp; Ratings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28"/>
          <p:cNvSpPr/>
          <p:nvPr/>
        </p:nvSpPr>
        <p:spPr>
          <a:xfrm>
            <a:off x="12265560" y="7113960"/>
            <a:ext cx="4083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Product feedback system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2" name="Group 29"/>
          <p:cNvGrpSpPr/>
          <p:nvPr/>
        </p:nvGrpSpPr>
        <p:grpSpPr>
          <a:xfrm>
            <a:off x="11638080" y="7743960"/>
            <a:ext cx="477720" cy="477720"/>
            <a:chOff x="11638080" y="7743960"/>
            <a:chExt cx="477720" cy="477720"/>
          </a:xfrm>
        </p:grpSpPr>
        <p:sp>
          <p:nvSpPr>
            <p:cNvPr id="153" name="Freeform 30"/>
            <p:cNvSpPr/>
            <p:nvPr/>
          </p:nvSpPr>
          <p:spPr>
            <a:xfrm>
              <a:off x="11643120" y="7748640"/>
              <a:ext cx="468360" cy="468360"/>
            </a:xfrm>
            <a:custGeom>
              <a:avLst/>
              <a:gdLst>
                <a:gd name="textAreaLeft" fmla="*/ 0 w 468360"/>
                <a:gd name="textAreaRight" fmla="*/ 469440 w 468360"/>
                <a:gd name="textAreaTop" fmla="*/ 0 h 468360"/>
                <a:gd name="textAreaBottom" fmla="*/ 469440 h 468360"/>
              </a:gdLst>
              <a:ahLst/>
              <a:rect l="textAreaLeft" t="textAreaTop" r="textAreaRight" b="textAreaBottom"/>
              <a:pathLst>
                <a:path w="625729" h="625729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lnTo>
                    <a:pt x="508889" y="0"/>
                  </a:lnTo>
                  <a:cubicBezTo>
                    <a:pt x="573405" y="0"/>
                    <a:pt x="625729" y="52324"/>
                    <a:pt x="625729" y="116840"/>
                  </a:cubicBezTo>
                  <a:lnTo>
                    <a:pt x="625729" y="508889"/>
                  </a:lnTo>
                  <a:cubicBezTo>
                    <a:pt x="625729" y="573405"/>
                    <a:pt x="573405" y="625729"/>
                    <a:pt x="508889" y="625729"/>
                  </a:cubicBezTo>
                  <a:lnTo>
                    <a:pt x="116840" y="625729"/>
                  </a:lnTo>
                  <a:cubicBezTo>
                    <a:pt x="52324" y="625729"/>
                    <a:pt x="0" y="573405"/>
                    <a:pt x="0" y="508889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Freeform 31"/>
            <p:cNvSpPr/>
            <p:nvPr/>
          </p:nvSpPr>
          <p:spPr>
            <a:xfrm>
              <a:off x="11638080" y="7743960"/>
              <a:ext cx="477720" cy="477720"/>
            </a:xfrm>
            <a:custGeom>
              <a:avLst/>
              <a:gdLst>
                <a:gd name="textAreaLeft" fmla="*/ 0 w 477720"/>
                <a:gd name="textAreaRight" fmla="*/ 478800 w 477720"/>
                <a:gd name="textAreaTop" fmla="*/ 0 h 477720"/>
                <a:gd name="textAreaBottom" fmla="*/ 478800 h 477720"/>
              </a:gdLst>
              <a:ahLst/>
              <a:rect l="textAreaLeft" t="textAreaTop" r="textAreaRight" b="textAreaBottom"/>
              <a:pathLst>
                <a:path w="638429" h="638429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515239" y="0"/>
                  </a:lnTo>
                  <a:lnTo>
                    <a:pt x="515239" y="6350"/>
                  </a:lnTo>
                  <a:lnTo>
                    <a:pt x="515239" y="0"/>
                  </a:lnTo>
                  <a:cubicBezTo>
                    <a:pt x="583311" y="0"/>
                    <a:pt x="638429" y="55118"/>
                    <a:pt x="638429" y="123190"/>
                  </a:cubicBezTo>
                  <a:lnTo>
                    <a:pt x="632079" y="123190"/>
                  </a:lnTo>
                  <a:lnTo>
                    <a:pt x="638429" y="123190"/>
                  </a:lnTo>
                  <a:lnTo>
                    <a:pt x="638429" y="515239"/>
                  </a:lnTo>
                  <a:lnTo>
                    <a:pt x="632079" y="515239"/>
                  </a:lnTo>
                  <a:lnTo>
                    <a:pt x="638429" y="515239"/>
                  </a:lnTo>
                  <a:cubicBezTo>
                    <a:pt x="638429" y="583311"/>
                    <a:pt x="583311" y="638429"/>
                    <a:pt x="515239" y="638429"/>
                  </a:cubicBezTo>
                  <a:lnTo>
                    <a:pt x="515239" y="632079"/>
                  </a:lnTo>
                  <a:lnTo>
                    <a:pt x="515239" y="638429"/>
                  </a:lnTo>
                  <a:lnTo>
                    <a:pt x="123190" y="638429"/>
                  </a:lnTo>
                  <a:lnTo>
                    <a:pt x="123190" y="632079"/>
                  </a:lnTo>
                  <a:lnTo>
                    <a:pt x="123190" y="638429"/>
                  </a:lnTo>
                  <a:cubicBezTo>
                    <a:pt x="55118" y="638429"/>
                    <a:pt x="0" y="583311"/>
                    <a:pt x="0" y="515239"/>
                  </a:cubicBezTo>
                  <a:lnTo>
                    <a:pt x="0" y="123190"/>
                  </a:lnTo>
                  <a:lnTo>
                    <a:pt x="6350" y="123190"/>
                  </a:lnTo>
                  <a:lnTo>
                    <a:pt x="0" y="123190"/>
                  </a:lnTo>
                  <a:moveTo>
                    <a:pt x="12700" y="123190"/>
                  </a:moveTo>
                  <a:lnTo>
                    <a:pt x="12700" y="515239"/>
                  </a:lnTo>
                  <a:lnTo>
                    <a:pt x="6350" y="515239"/>
                  </a:lnTo>
                  <a:lnTo>
                    <a:pt x="12700" y="515239"/>
                  </a:lnTo>
                  <a:cubicBezTo>
                    <a:pt x="12700" y="576199"/>
                    <a:pt x="62103" y="625729"/>
                    <a:pt x="123190" y="625729"/>
                  </a:cubicBezTo>
                  <a:lnTo>
                    <a:pt x="515239" y="625729"/>
                  </a:lnTo>
                  <a:cubicBezTo>
                    <a:pt x="576199" y="625729"/>
                    <a:pt x="625729" y="576326"/>
                    <a:pt x="625729" y="515239"/>
                  </a:cubicBezTo>
                  <a:lnTo>
                    <a:pt x="625729" y="123190"/>
                  </a:lnTo>
                  <a:cubicBezTo>
                    <a:pt x="625729" y="62230"/>
                    <a:pt x="576326" y="12700"/>
                    <a:pt x="515239" y="12700"/>
                  </a:cubicBezTo>
                  <a:lnTo>
                    <a:pt x="123190" y="12700"/>
                  </a:lnTo>
                  <a:lnTo>
                    <a:pt x="123190" y="6350"/>
                  </a:lnTo>
                  <a:lnTo>
                    <a:pt x="123190" y="12700"/>
                  </a:lnTo>
                  <a:cubicBezTo>
                    <a:pt x="62103" y="12700"/>
                    <a:pt x="12700" y="62103"/>
                    <a:pt x="12700" y="12319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5" name="TextBox 32"/>
          <p:cNvSpPr/>
          <p:nvPr/>
        </p:nvSpPr>
        <p:spPr>
          <a:xfrm>
            <a:off x="12265560" y="7801200"/>
            <a:ext cx="260640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Admin Dashboard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33"/>
          <p:cNvSpPr/>
          <p:nvPr/>
        </p:nvSpPr>
        <p:spPr>
          <a:xfrm>
            <a:off x="12265560" y="8261640"/>
            <a:ext cx="40831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Live metrics and system monitoring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158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160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1" name="TextBox 6"/>
          <p:cNvSpPr/>
          <p:nvPr/>
        </p:nvSpPr>
        <p:spPr>
          <a:xfrm>
            <a:off x="992160" y="1374120"/>
            <a:ext cx="70873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6"/>
              </a:lnSpc>
            </a:pPr>
            <a:r>
              <a:rPr b="0" lang="en-US" sz="5560" spc="-1" strike="noStrike">
                <a:solidFill>
                  <a:srgbClr val="272d45"/>
                </a:solidFill>
                <a:latin typeface="arial"/>
                <a:ea typeface="arial"/>
              </a:rPr>
              <a:t>Backend Architecture</a:t>
            </a:r>
            <a:endParaRPr b="0" lang="en-IN" sz="55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2" name="Group 7"/>
          <p:cNvGrpSpPr/>
          <p:nvPr/>
        </p:nvGrpSpPr>
        <p:grpSpPr>
          <a:xfrm>
            <a:off x="973080" y="2865240"/>
            <a:ext cx="5282280" cy="3107880"/>
            <a:chOff x="973080" y="2865240"/>
            <a:chExt cx="5282280" cy="3107880"/>
          </a:xfrm>
        </p:grpSpPr>
        <p:sp>
          <p:nvSpPr>
            <p:cNvPr id="163" name="Freeform 8"/>
            <p:cNvSpPr/>
            <p:nvPr/>
          </p:nvSpPr>
          <p:spPr>
            <a:xfrm>
              <a:off x="992160" y="2884320"/>
              <a:ext cx="5244480" cy="3069720"/>
            </a:xfrm>
            <a:custGeom>
              <a:avLst/>
              <a:gdLst>
                <a:gd name="textAreaLeft" fmla="*/ 0 w 5244480"/>
                <a:gd name="textAreaRight" fmla="*/ 5245560 w 5244480"/>
                <a:gd name="textAreaTop" fmla="*/ 0 h 3069720"/>
                <a:gd name="textAreaBottom" fmla="*/ 3070800 h 3069720"/>
              </a:gdLst>
              <a:ahLst/>
              <a:rect l="textAreaLeft" t="textAreaTop" r="textAreaRight" b="textAreaBottom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" name="Freeform 9"/>
            <p:cNvSpPr/>
            <p:nvPr/>
          </p:nvSpPr>
          <p:spPr>
            <a:xfrm>
              <a:off x="973080" y="2865240"/>
              <a:ext cx="5282280" cy="3107880"/>
            </a:xfrm>
            <a:custGeom>
              <a:avLst/>
              <a:gdLst>
                <a:gd name="textAreaLeft" fmla="*/ 0 w 5282280"/>
                <a:gd name="textAreaRight" fmla="*/ 5283360 w 5282280"/>
                <a:gd name="textAreaTop" fmla="*/ 0 h 3107880"/>
                <a:gd name="textAreaBottom" fmla="*/ 3108960 h 3107880"/>
              </a:gdLst>
              <a:ahLst/>
              <a:rect l="textAreaLeft" t="textAreaTop" r="textAreaRight" b="textAreaBottom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5" name="Group 10"/>
          <p:cNvGrpSpPr/>
          <p:nvPr/>
        </p:nvGrpSpPr>
        <p:grpSpPr>
          <a:xfrm>
            <a:off x="954000" y="2884320"/>
            <a:ext cx="151200" cy="3069720"/>
            <a:chOff x="954000" y="2884320"/>
            <a:chExt cx="151200" cy="3069720"/>
          </a:xfrm>
        </p:grpSpPr>
        <p:sp>
          <p:nvSpPr>
            <p:cNvPr id="166" name="Freeform 11"/>
            <p:cNvSpPr/>
            <p:nvPr/>
          </p:nvSpPr>
          <p:spPr>
            <a:xfrm>
              <a:off x="954000" y="2884320"/>
              <a:ext cx="151200" cy="306972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3069720"/>
                <a:gd name="textAreaBottom" fmla="*/ 3070800 h 3069720"/>
              </a:gdLst>
              <a:ahLst/>
              <a:rect l="textAreaLeft" t="textAreaTop" r="textAreaRight" b="textAreaBottom"/>
              <a:pathLst>
                <a:path w="203200" h="409435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7" name="TextBox 12"/>
          <p:cNvSpPr/>
          <p:nvPr/>
        </p:nvSpPr>
        <p:spPr>
          <a:xfrm>
            <a:off x="1428120" y="3167640"/>
            <a:ext cx="35431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36"/>
              </a:lnSpc>
            </a:pPr>
            <a:r>
              <a:rPr b="0" lang="en-US" sz="2750" spc="-1" strike="noStrike">
                <a:solidFill>
                  <a:srgbClr val="2c3249"/>
                </a:solidFill>
                <a:latin typeface="arial"/>
                <a:ea typeface="arial"/>
              </a:rPr>
              <a:t>Express.js REST API</a:t>
            </a:r>
            <a:endParaRPr b="0" lang="en-IN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1428120" y="3733200"/>
            <a:ext cx="4486680" cy="18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b="0" lang="en-US" sz="2190" spc="-1" strike="noStrike">
                <a:solidFill>
                  <a:srgbClr val="2c3249"/>
                </a:solidFill>
                <a:latin typeface="Martel Sans"/>
                <a:ea typeface="Martel Sans"/>
              </a:rPr>
              <a:t>6 route handlers managing product, user, order, and review endpoints with request validation and error handling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9" name="Group 14"/>
          <p:cNvGrpSpPr/>
          <p:nvPr/>
        </p:nvGrpSpPr>
        <p:grpSpPr>
          <a:xfrm>
            <a:off x="6502320" y="2865240"/>
            <a:ext cx="5282280" cy="3107880"/>
            <a:chOff x="6502320" y="2865240"/>
            <a:chExt cx="5282280" cy="3107880"/>
          </a:xfrm>
        </p:grpSpPr>
        <p:sp>
          <p:nvSpPr>
            <p:cNvPr id="170" name="Freeform 15"/>
            <p:cNvSpPr/>
            <p:nvPr/>
          </p:nvSpPr>
          <p:spPr>
            <a:xfrm>
              <a:off x="6521040" y="2884320"/>
              <a:ext cx="5244480" cy="3069720"/>
            </a:xfrm>
            <a:custGeom>
              <a:avLst/>
              <a:gdLst>
                <a:gd name="textAreaLeft" fmla="*/ 0 w 5244480"/>
                <a:gd name="textAreaRight" fmla="*/ 5245560 w 5244480"/>
                <a:gd name="textAreaTop" fmla="*/ 0 h 3069720"/>
                <a:gd name="textAreaBottom" fmla="*/ 3070800 h 3069720"/>
              </a:gdLst>
              <a:ahLst/>
              <a:rect l="textAreaLeft" t="textAreaTop" r="textAreaRight" b="textAreaBottom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Freeform 16"/>
            <p:cNvSpPr/>
            <p:nvPr/>
          </p:nvSpPr>
          <p:spPr>
            <a:xfrm>
              <a:off x="6502320" y="2865240"/>
              <a:ext cx="5282280" cy="3107880"/>
            </a:xfrm>
            <a:custGeom>
              <a:avLst/>
              <a:gdLst>
                <a:gd name="textAreaLeft" fmla="*/ 0 w 5282280"/>
                <a:gd name="textAreaRight" fmla="*/ 5283360 w 5282280"/>
                <a:gd name="textAreaTop" fmla="*/ 0 h 3107880"/>
                <a:gd name="textAreaBottom" fmla="*/ 3108960 h 3107880"/>
              </a:gdLst>
              <a:ahLst/>
              <a:rect l="textAreaLeft" t="textAreaTop" r="textAreaRight" b="textAreaBottom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" name="Group 17"/>
          <p:cNvGrpSpPr/>
          <p:nvPr/>
        </p:nvGrpSpPr>
        <p:grpSpPr>
          <a:xfrm>
            <a:off x="6483240" y="2884320"/>
            <a:ext cx="151200" cy="3069720"/>
            <a:chOff x="6483240" y="2884320"/>
            <a:chExt cx="151200" cy="3069720"/>
          </a:xfrm>
        </p:grpSpPr>
        <p:sp>
          <p:nvSpPr>
            <p:cNvPr id="173" name="Freeform 18"/>
            <p:cNvSpPr/>
            <p:nvPr/>
          </p:nvSpPr>
          <p:spPr>
            <a:xfrm>
              <a:off x="6483240" y="2884320"/>
              <a:ext cx="151200" cy="306972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3069720"/>
                <a:gd name="textAreaBottom" fmla="*/ 3070800 h 3069720"/>
              </a:gdLst>
              <a:ahLst/>
              <a:rect l="textAreaLeft" t="textAreaTop" r="textAreaRight" b="textAreaBottom"/>
              <a:pathLst>
                <a:path w="203200" h="409435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74" name="TextBox 19"/>
          <p:cNvSpPr/>
          <p:nvPr/>
        </p:nvSpPr>
        <p:spPr>
          <a:xfrm>
            <a:off x="6957000" y="3167640"/>
            <a:ext cx="35431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36"/>
              </a:lnSpc>
            </a:pPr>
            <a:r>
              <a:rPr b="0" lang="en-US" sz="2750" spc="-1" strike="noStrike">
                <a:solidFill>
                  <a:srgbClr val="2c3249"/>
                </a:solidFill>
                <a:latin typeface="arial"/>
                <a:ea typeface="arial"/>
              </a:rPr>
              <a:t>MongoDB Collections</a:t>
            </a:r>
            <a:endParaRPr b="0" lang="en-IN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20"/>
          <p:cNvSpPr/>
          <p:nvPr/>
        </p:nvSpPr>
        <p:spPr>
          <a:xfrm>
            <a:off x="6957000" y="3733200"/>
            <a:ext cx="4486680" cy="18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b="0" lang="en-US" sz="2190" spc="-1" strike="noStrike">
                <a:solidFill>
                  <a:srgbClr val="2c3249"/>
                </a:solidFill>
                <a:latin typeface="Martel Sans"/>
                <a:ea typeface="Martel Sans"/>
              </a:rPr>
              <a:t>5 collections: products, users, orders, order_items, and reviews with relationships and indexes for query optimization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6" name="Group 21"/>
          <p:cNvGrpSpPr/>
          <p:nvPr/>
        </p:nvGrpSpPr>
        <p:grpSpPr>
          <a:xfrm>
            <a:off x="12031200" y="2865240"/>
            <a:ext cx="5282280" cy="3107880"/>
            <a:chOff x="12031200" y="2865240"/>
            <a:chExt cx="5282280" cy="3107880"/>
          </a:xfrm>
        </p:grpSpPr>
        <p:sp>
          <p:nvSpPr>
            <p:cNvPr id="177" name="Freeform 22"/>
            <p:cNvSpPr/>
            <p:nvPr/>
          </p:nvSpPr>
          <p:spPr>
            <a:xfrm>
              <a:off x="12050280" y="2884320"/>
              <a:ext cx="5244480" cy="3069720"/>
            </a:xfrm>
            <a:custGeom>
              <a:avLst/>
              <a:gdLst>
                <a:gd name="textAreaLeft" fmla="*/ 0 w 5244480"/>
                <a:gd name="textAreaRight" fmla="*/ 5245560 w 5244480"/>
                <a:gd name="textAreaTop" fmla="*/ 0 h 3069720"/>
                <a:gd name="textAreaBottom" fmla="*/ 3070800 h 3069720"/>
              </a:gdLst>
              <a:ahLst/>
              <a:rect l="textAreaLeft" t="textAreaTop" r="textAreaRight" b="textAreaBottom"/>
              <a:pathLst>
                <a:path w="6993890" h="4094353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6748780" y="0"/>
                  </a:lnTo>
                  <a:cubicBezTo>
                    <a:pt x="6884162" y="0"/>
                    <a:pt x="6993890" y="109220"/>
                    <a:pt x="6993890" y="243840"/>
                  </a:cubicBezTo>
                  <a:lnTo>
                    <a:pt x="6993890" y="3850513"/>
                  </a:lnTo>
                  <a:cubicBezTo>
                    <a:pt x="6993890" y="3985133"/>
                    <a:pt x="6884162" y="4094353"/>
                    <a:pt x="6748780" y="4094353"/>
                  </a:cubicBezTo>
                  <a:lnTo>
                    <a:pt x="245110" y="4094353"/>
                  </a:lnTo>
                  <a:cubicBezTo>
                    <a:pt x="109728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" name="Freeform 23"/>
            <p:cNvSpPr/>
            <p:nvPr/>
          </p:nvSpPr>
          <p:spPr>
            <a:xfrm>
              <a:off x="12031200" y="2865240"/>
              <a:ext cx="5282280" cy="3107880"/>
            </a:xfrm>
            <a:custGeom>
              <a:avLst/>
              <a:gdLst>
                <a:gd name="textAreaLeft" fmla="*/ 0 w 5282280"/>
                <a:gd name="textAreaRight" fmla="*/ 5283360 w 5282280"/>
                <a:gd name="textAreaTop" fmla="*/ 0 h 3107880"/>
                <a:gd name="textAreaBottom" fmla="*/ 3108960 h 3107880"/>
              </a:gdLst>
              <a:ahLst/>
              <a:rect l="textAreaLeft" t="textAreaTop" r="textAreaRight" b="textAreaBottom"/>
              <a:pathLst>
                <a:path w="7044690" h="4145153">
                  <a:moveTo>
                    <a:pt x="0" y="269240"/>
                  </a:moveTo>
                  <a:cubicBezTo>
                    <a:pt x="0" y="120396"/>
                    <a:pt x="121285" y="0"/>
                    <a:pt x="270510" y="0"/>
                  </a:cubicBezTo>
                  <a:lnTo>
                    <a:pt x="6774180" y="0"/>
                  </a:lnTo>
                  <a:lnTo>
                    <a:pt x="6774180" y="25400"/>
                  </a:lnTo>
                  <a:lnTo>
                    <a:pt x="6774180" y="0"/>
                  </a:lnTo>
                  <a:cubicBezTo>
                    <a:pt x="6923405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875913"/>
                  </a:lnTo>
                  <a:lnTo>
                    <a:pt x="7019290" y="3875913"/>
                  </a:lnTo>
                  <a:lnTo>
                    <a:pt x="7044690" y="3875913"/>
                  </a:lnTo>
                  <a:cubicBezTo>
                    <a:pt x="7044690" y="4024757"/>
                    <a:pt x="6923405" y="4145153"/>
                    <a:pt x="6774180" y="4145153"/>
                  </a:cubicBezTo>
                  <a:lnTo>
                    <a:pt x="6774180" y="4119753"/>
                  </a:lnTo>
                  <a:lnTo>
                    <a:pt x="6774180" y="4145153"/>
                  </a:lnTo>
                  <a:lnTo>
                    <a:pt x="270510" y="4145153"/>
                  </a:lnTo>
                  <a:lnTo>
                    <a:pt x="270510" y="4119753"/>
                  </a:lnTo>
                  <a:lnTo>
                    <a:pt x="270510" y="4145153"/>
                  </a:lnTo>
                  <a:cubicBezTo>
                    <a:pt x="121285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098" y="4094353"/>
                    <a:pt x="270510" y="4094353"/>
                  </a:cubicBezTo>
                  <a:lnTo>
                    <a:pt x="6774180" y="4094353"/>
                  </a:lnTo>
                  <a:cubicBezTo>
                    <a:pt x="6895592" y="4094353"/>
                    <a:pt x="6993890" y="3996436"/>
                    <a:pt x="6993890" y="3875913"/>
                  </a:cubicBezTo>
                  <a:lnTo>
                    <a:pt x="6993890" y="269240"/>
                  </a:lnTo>
                  <a:cubicBezTo>
                    <a:pt x="6993890" y="148717"/>
                    <a:pt x="6895592" y="50800"/>
                    <a:pt x="6774180" y="50800"/>
                  </a:cubicBezTo>
                  <a:lnTo>
                    <a:pt x="270510" y="50800"/>
                  </a:lnTo>
                  <a:lnTo>
                    <a:pt x="270510" y="25400"/>
                  </a:lnTo>
                  <a:lnTo>
                    <a:pt x="270510" y="50800"/>
                  </a:lnTo>
                  <a:cubicBezTo>
                    <a:pt x="149098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" name="Group 24"/>
          <p:cNvGrpSpPr/>
          <p:nvPr/>
        </p:nvGrpSpPr>
        <p:grpSpPr>
          <a:xfrm>
            <a:off x="12012120" y="2884320"/>
            <a:ext cx="151200" cy="3069720"/>
            <a:chOff x="12012120" y="2884320"/>
            <a:chExt cx="151200" cy="3069720"/>
          </a:xfrm>
        </p:grpSpPr>
        <p:sp>
          <p:nvSpPr>
            <p:cNvPr id="180" name="Freeform 25"/>
            <p:cNvSpPr/>
            <p:nvPr/>
          </p:nvSpPr>
          <p:spPr>
            <a:xfrm>
              <a:off x="12012120" y="2884320"/>
              <a:ext cx="151200" cy="306972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3069720"/>
                <a:gd name="textAreaBottom" fmla="*/ 3070800 h 3069720"/>
              </a:gdLst>
              <a:ahLst/>
              <a:rect l="textAreaLeft" t="textAreaTop" r="textAreaRight" b="textAreaBottom"/>
              <a:pathLst>
                <a:path w="203200" h="409435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81" name="TextBox 26"/>
          <p:cNvSpPr/>
          <p:nvPr/>
        </p:nvSpPr>
        <p:spPr>
          <a:xfrm>
            <a:off x="12486240" y="3167640"/>
            <a:ext cx="35431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36"/>
              </a:lnSpc>
            </a:pPr>
            <a:r>
              <a:rPr b="0" lang="en-US" sz="2750" spc="-1" strike="noStrike">
                <a:solidFill>
                  <a:srgbClr val="2c3249"/>
                </a:solidFill>
                <a:latin typeface="arial"/>
                <a:ea typeface="arial"/>
              </a:rPr>
              <a:t>Auto-Incrementing IDs</a:t>
            </a:r>
            <a:endParaRPr b="0" lang="en-IN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27"/>
          <p:cNvSpPr/>
          <p:nvPr/>
        </p:nvSpPr>
        <p:spPr>
          <a:xfrm>
            <a:off x="12486240" y="3733200"/>
            <a:ext cx="4486680" cy="13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b="0" lang="en-US" sz="2190" spc="-1" strike="noStrike">
                <a:solidFill>
                  <a:srgbClr val="2c3249"/>
                </a:solidFill>
                <a:latin typeface="Martel Sans"/>
                <a:ea typeface="Martel Sans"/>
              </a:rPr>
              <a:t>Custom ID generation system with collision handling for sequential document identifiers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3" name="Group 28"/>
          <p:cNvGrpSpPr/>
          <p:nvPr/>
        </p:nvGrpSpPr>
        <p:grpSpPr>
          <a:xfrm>
            <a:off x="973080" y="6219360"/>
            <a:ext cx="5282280" cy="2654280"/>
            <a:chOff x="973080" y="6219360"/>
            <a:chExt cx="5282280" cy="2654280"/>
          </a:xfrm>
        </p:grpSpPr>
        <p:sp>
          <p:nvSpPr>
            <p:cNvPr id="184" name="Freeform 29"/>
            <p:cNvSpPr/>
            <p:nvPr/>
          </p:nvSpPr>
          <p:spPr>
            <a:xfrm>
              <a:off x="992160" y="6238440"/>
              <a:ext cx="5244480" cy="2616120"/>
            </a:xfrm>
            <a:custGeom>
              <a:avLst/>
              <a:gdLst>
                <a:gd name="textAreaLeft" fmla="*/ 0 w 5244480"/>
                <a:gd name="textAreaRight" fmla="*/ 5245560 w 5244480"/>
                <a:gd name="textAreaTop" fmla="*/ 0 h 2616120"/>
                <a:gd name="textAreaBottom" fmla="*/ 2617200 h 2616120"/>
              </a:gdLst>
              <a:ahLst/>
              <a:rect l="textAreaLeft" t="textAreaTop" r="textAreaRight" b="textAreaBottom"/>
              <a:pathLst>
                <a:path w="6993890" h="3489452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" name="Freeform 30"/>
            <p:cNvSpPr/>
            <p:nvPr/>
          </p:nvSpPr>
          <p:spPr>
            <a:xfrm>
              <a:off x="973080" y="6219360"/>
              <a:ext cx="5282280" cy="2654280"/>
            </a:xfrm>
            <a:custGeom>
              <a:avLst/>
              <a:gdLst>
                <a:gd name="textAreaLeft" fmla="*/ 0 w 5282280"/>
                <a:gd name="textAreaRight" fmla="*/ 5283360 w 5282280"/>
                <a:gd name="textAreaTop" fmla="*/ 0 h 2654280"/>
                <a:gd name="textAreaBottom" fmla="*/ 2655360 h 2654280"/>
              </a:gdLst>
              <a:ahLst/>
              <a:rect l="textAreaLeft" t="textAreaTop" r="textAreaRight" b="textAreaBottom"/>
              <a:pathLst>
                <a:path w="7044690" h="3540252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6" name="Group 31"/>
          <p:cNvGrpSpPr/>
          <p:nvPr/>
        </p:nvGrpSpPr>
        <p:grpSpPr>
          <a:xfrm>
            <a:off x="954000" y="6238440"/>
            <a:ext cx="151200" cy="2616120"/>
            <a:chOff x="954000" y="6238440"/>
            <a:chExt cx="151200" cy="2616120"/>
          </a:xfrm>
        </p:grpSpPr>
        <p:sp>
          <p:nvSpPr>
            <p:cNvPr id="187" name="Freeform 32"/>
            <p:cNvSpPr/>
            <p:nvPr/>
          </p:nvSpPr>
          <p:spPr>
            <a:xfrm>
              <a:off x="954000" y="6238440"/>
              <a:ext cx="151200" cy="261612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2616120"/>
                <a:gd name="textAreaBottom" fmla="*/ 2617200 h 2616120"/>
              </a:gdLst>
              <a:ahLst/>
              <a:rect l="textAreaLeft" t="textAreaTop" r="textAreaRight" b="textAreaBottom"/>
              <a:pathLst>
                <a:path w="203200" h="348957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88" name="TextBox 33"/>
          <p:cNvSpPr/>
          <p:nvPr/>
        </p:nvSpPr>
        <p:spPr>
          <a:xfrm>
            <a:off x="1428120" y="6522120"/>
            <a:ext cx="35431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36"/>
              </a:lnSpc>
            </a:pPr>
            <a:r>
              <a:rPr b="0" lang="en-US" sz="2750" spc="-1" strike="noStrike">
                <a:solidFill>
                  <a:srgbClr val="2c3249"/>
                </a:solidFill>
                <a:latin typeface="arial"/>
                <a:ea typeface="arial"/>
              </a:rPr>
              <a:t>MinIO Integration</a:t>
            </a:r>
            <a:endParaRPr b="0" lang="en-IN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4"/>
          <p:cNvSpPr/>
          <p:nvPr/>
        </p:nvSpPr>
        <p:spPr>
          <a:xfrm>
            <a:off x="1428120" y="7087320"/>
            <a:ext cx="4486680" cy="13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b="0" lang="en-US" sz="2190" spc="-1" strike="noStrike">
                <a:solidFill>
                  <a:srgbClr val="2c3249"/>
                </a:solidFill>
                <a:latin typeface="Martel Sans"/>
                <a:ea typeface="Martel Sans"/>
              </a:rPr>
              <a:t>S3-compatible storage for product images with secure upload and retrieval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0" name="Group 35"/>
          <p:cNvGrpSpPr/>
          <p:nvPr/>
        </p:nvGrpSpPr>
        <p:grpSpPr>
          <a:xfrm>
            <a:off x="6502320" y="6219360"/>
            <a:ext cx="5282280" cy="2654280"/>
            <a:chOff x="6502320" y="6219360"/>
            <a:chExt cx="5282280" cy="2654280"/>
          </a:xfrm>
        </p:grpSpPr>
        <p:sp>
          <p:nvSpPr>
            <p:cNvPr id="191" name="Freeform 36"/>
            <p:cNvSpPr/>
            <p:nvPr/>
          </p:nvSpPr>
          <p:spPr>
            <a:xfrm>
              <a:off x="6521040" y="6238440"/>
              <a:ext cx="5244480" cy="2616120"/>
            </a:xfrm>
            <a:custGeom>
              <a:avLst/>
              <a:gdLst>
                <a:gd name="textAreaLeft" fmla="*/ 0 w 5244480"/>
                <a:gd name="textAreaRight" fmla="*/ 5245560 w 5244480"/>
                <a:gd name="textAreaTop" fmla="*/ 0 h 2616120"/>
                <a:gd name="textAreaBottom" fmla="*/ 2617200 h 2616120"/>
              </a:gdLst>
              <a:ahLst/>
              <a:rect l="textAreaLeft" t="textAreaTop" r="textAreaRight" b="textAreaBottom"/>
              <a:pathLst>
                <a:path w="6993890" h="3489452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" name="Freeform 37"/>
            <p:cNvSpPr/>
            <p:nvPr/>
          </p:nvSpPr>
          <p:spPr>
            <a:xfrm>
              <a:off x="6502320" y="6219360"/>
              <a:ext cx="5282280" cy="2654280"/>
            </a:xfrm>
            <a:custGeom>
              <a:avLst/>
              <a:gdLst>
                <a:gd name="textAreaLeft" fmla="*/ 0 w 5282280"/>
                <a:gd name="textAreaRight" fmla="*/ 5283360 w 5282280"/>
                <a:gd name="textAreaTop" fmla="*/ 0 h 2654280"/>
                <a:gd name="textAreaBottom" fmla="*/ 2655360 h 2654280"/>
              </a:gdLst>
              <a:ahLst/>
              <a:rect l="textAreaLeft" t="textAreaTop" r="textAreaRight" b="textAreaBottom"/>
              <a:pathLst>
                <a:path w="7044690" h="3540252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" name="Group 38"/>
          <p:cNvGrpSpPr/>
          <p:nvPr/>
        </p:nvGrpSpPr>
        <p:grpSpPr>
          <a:xfrm>
            <a:off x="6483240" y="6238440"/>
            <a:ext cx="151200" cy="2616120"/>
            <a:chOff x="6483240" y="6238440"/>
            <a:chExt cx="151200" cy="2616120"/>
          </a:xfrm>
        </p:grpSpPr>
        <p:sp>
          <p:nvSpPr>
            <p:cNvPr id="194" name="Freeform 39"/>
            <p:cNvSpPr/>
            <p:nvPr/>
          </p:nvSpPr>
          <p:spPr>
            <a:xfrm>
              <a:off x="6483240" y="6238440"/>
              <a:ext cx="151200" cy="2616120"/>
            </a:xfrm>
            <a:custGeom>
              <a:avLst/>
              <a:gdLst>
                <a:gd name="textAreaLeft" fmla="*/ 0 w 151200"/>
                <a:gd name="textAreaRight" fmla="*/ 152280 w 151200"/>
                <a:gd name="textAreaTop" fmla="*/ 0 h 2616120"/>
                <a:gd name="textAreaBottom" fmla="*/ 2617200 h 2616120"/>
              </a:gdLst>
              <a:ahLst/>
              <a:rect l="textAreaLeft" t="textAreaTop" r="textAreaRight" b="textAreaBottom"/>
              <a:pathLst>
                <a:path w="203200" h="348957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95" name="TextBox 40"/>
          <p:cNvSpPr/>
          <p:nvPr/>
        </p:nvSpPr>
        <p:spPr>
          <a:xfrm>
            <a:off x="6957000" y="6522120"/>
            <a:ext cx="35431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36"/>
              </a:lnSpc>
            </a:pPr>
            <a:r>
              <a:rPr b="0" lang="en-US" sz="2750" spc="-1" strike="noStrike">
                <a:solidFill>
                  <a:srgbClr val="2c3249"/>
                </a:solidFill>
                <a:latin typeface="arial"/>
                <a:ea typeface="arial"/>
              </a:rPr>
              <a:t>Kafka Producer</a:t>
            </a:r>
            <a:endParaRPr b="0" lang="en-IN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41"/>
          <p:cNvSpPr/>
          <p:nvPr/>
        </p:nvSpPr>
        <p:spPr>
          <a:xfrm>
            <a:off x="6957000" y="7087320"/>
            <a:ext cx="4486680" cy="13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b="0" lang="en-US" sz="2190" spc="-1" strike="noStrike">
                <a:solidFill>
                  <a:srgbClr val="2c3249"/>
                </a:solidFill>
                <a:latin typeface="Martel Sans"/>
                <a:ea typeface="Martel Sans"/>
              </a:rPr>
              <a:t>Event streaming implementation capturing user actions and system events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198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200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1" name="TextBox 6"/>
          <p:cNvSpPr/>
          <p:nvPr/>
        </p:nvSpPr>
        <p:spPr>
          <a:xfrm>
            <a:off x="1927800" y="817200"/>
            <a:ext cx="8331480" cy="6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25"/>
              </a:lnSpc>
            </a:pPr>
            <a:r>
              <a:rPr b="0" lang="en-US" sz="4059" spc="-1" strike="noStrike">
                <a:solidFill>
                  <a:srgbClr val="272d45"/>
                </a:solidFill>
                <a:latin typeface="arial"/>
                <a:ea typeface="arial"/>
              </a:rPr>
              <a:t>Real-Time Event Streaming Pipeline</a:t>
            </a:r>
            <a:endParaRPr b="0" lang="en-IN" sz="405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2" name="Group 7"/>
          <p:cNvGrpSpPr/>
          <p:nvPr/>
        </p:nvGrpSpPr>
        <p:grpSpPr>
          <a:xfrm>
            <a:off x="1927800" y="1827000"/>
            <a:ext cx="1044720" cy="1253880"/>
            <a:chOff x="1927800" y="1827000"/>
            <a:chExt cx="1044720" cy="1253880"/>
          </a:xfrm>
        </p:grpSpPr>
        <p:sp>
          <p:nvSpPr>
            <p:cNvPr id="203" name="Freeform 8"/>
            <p:cNvSpPr/>
            <p:nvPr/>
          </p:nvSpPr>
          <p:spPr>
            <a:xfrm>
              <a:off x="1927800" y="1827000"/>
              <a:ext cx="1044720" cy="1253880"/>
            </a:xfrm>
            <a:custGeom>
              <a:avLst/>
              <a:gdLst>
                <a:gd name="textAreaLeft" fmla="*/ 0 w 1044720"/>
                <a:gd name="textAreaRight" fmla="*/ 1045800 w 1044720"/>
                <a:gd name="textAreaTop" fmla="*/ 0 h 1253880"/>
                <a:gd name="textAreaBottom" fmla="*/ 1254960 h 1253880"/>
              </a:gdLst>
              <a:ahLst/>
              <a:rect l="textAreaLeft" t="textAreaTop" r="textAreaRight" b="textAreaBottom"/>
              <a:pathLst>
                <a:path w="1394460" h="1673225">
                  <a:moveTo>
                    <a:pt x="0" y="0"/>
                  </a:moveTo>
                  <a:lnTo>
                    <a:pt x="1394460" y="0"/>
                  </a:lnTo>
                  <a:lnTo>
                    <a:pt x="1394460" y="1673225"/>
                  </a:lnTo>
                  <a:lnTo>
                    <a:pt x="0" y="167322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4" name="TextBox 9"/>
          <p:cNvSpPr/>
          <p:nvPr/>
        </p:nvSpPr>
        <p:spPr>
          <a:xfrm>
            <a:off x="3127680" y="2017080"/>
            <a:ext cx="2613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User Action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3127680" y="2417400"/>
            <a:ext cx="13231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View, cart, purchase, or review event initiated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6" name="Group 11"/>
          <p:cNvGrpSpPr/>
          <p:nvPr/>
        </p:nvGrpSpPr>
        <p:grpSpPr>
          <a:xfrm>
            <a:off x="1927800" y="3081960"/>
            <a:ext cx="1044720" cy="1253880"/>
            <a:chOff x="1927800" y="3081960"/>
            <a:chExt cx="1044720" cy="1253880"/>
          </a:xfrm>
        </p:grpSpPr>
        <p:sp>
          <p:nvSpPr>
            <p:cNvPr id="207" name="Freeform 12"/>
            <p:cNvSpPr/>
            <p:nvPr/>
          </p:nvSpPr>
          <p:spPr>
            <a:xfrm>
              <a:off x="1927800" y="3081960"/>
              <a:ext cx="1044720" cy="1253880"/>
            </a:xfrm>
            <a:custGeom>
              <a:avLst/>
              <a:gdLst>
                <a:gd name="textAreaLeft" fmla="*/ 0 w 1044720"/>
                <a:gd name="textAreaRight" fmla="*/ 1045800 w 1044720"/>
                <a:gd name="textAreaTop" fmla="*/ 0 h 1253880"/>
                <a:gd name="textAreaBottom" fmla="*/ 1254960 h 1253880"/>
              </a:gdLst>
              <a:ahLst/>
              <a:rect l="textAreaLeft" t="textAreaTop" r="textAreaRight" b="textAreaBottom"/>
              <a:pathLst>
                <a:path w="1394460" h="1673225">
                  <a:moveTo>
                    <a:pt x="0" y="0"/>
                  </a:moveTo>
                  <a:lnTo>
                    <a:pt x="1394460" y="0"/>
                  </a:lnTo>
                  <a:lnTo>
                    <a:pt x="1394460" y="1673225"/>
                  </a:lnTo>
                  <a:lnTo>
                    <a:pt x="0" y="167322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8" name="TextBox 13"/>
          <p:cNvSpPr/>
          <p:nvPr/>
        </p:nvSpPr>
        <p:spPr>
          <a:xfrm>
            <a:off x="3127680" y="3271680"/>
            <a:ext cx="2613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Backend Processing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14"/>
          <p:cNvSpPr/>
          <p:nvPr/>
        </p:nvSpPr>
        <p:spPr>
          <a:xfrm>
            <a:off x="3127680" y="3672360"/>
            <a:ext cx="13231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API validates and processes the action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0" name="Group 15"/>
          <p:cNvGrpSpPr/>
          <p:nvPr/>
        </p:nvGrpSpPr>
        <p:grpSpPr>
          <a:xfrm>
            <a:off x="1927800" y="4336560"/>
            <a:ext cx="1044720" cy="1253880"/>
            <a:chOff x="1927800" y="4336560"/>
            <a:chExt cx="1044720" cy="1253880"/>
          </a:xfrm>
        </p:grpSpPr>
        <p:sp>
          <p:nvSpPr>
            <p:cNvPr id="211" name="Freeform 16"/>
            <p:cNvSpPr/>
            <p:nvPr/>
          </p:nvSpPr>
          <p:spPr>
            <a:xfrm>
              <a:off x="1927800" y="4336560"/>
              <a:ext cx="1044720" cy="1253880"/>
            </a:xfrm>
            <a:custGeom>
              <a:avLst/>
              <a:gdLst>
                <a:gd name="textAreaLeft" fmla="*/ 0 w 1044720"/>
                <a:gd name="textAreaRight" fmla="*/ 1045800 w 1044720"/>
                <a:gd name="textAreaTop" fmla="*/ 0 h 1253880"/>
                <a:gd name="textAreaBottom" fmla="*/ 1254960 h 1253880"/>
              </a:gdLst>
              <a:ahLst/>
              <a:rect l="textAreaLeft" t="textAreaTop" r="textAreaRight" b="textAreaBottom"/>
              <a:pathLst>
                <a:path w="1394460" h="1673225">
                  <a:moveTo>
                    <a:pt x="0" y="0"/>
                  </a:moveTo>
                  <a:lnTo>
                    <a:pt x="1394460" y="0"/>
                  </a:lnTo>
                  <a:lnTo>
                    <a:pt x="1394460" y="1673225"/>
                  </a:lnTo>
                  <a:lnTo>
                    <a:pt x="0" y="167322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2" name="TextBox 17"/>
          <p:cNvSpPr/>
          <p:nvPr/>
        </p:nvSpPr>
        <p:spPr>
          <a:xfrm>
            <a:off x="3127680" y="4526640"/>
            <a:ext cx="2613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Kafka Broker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18"/>
          <p:cNvSpPr/>
          <p:nvPr/>
        </p:nvSpPr>
        <p:spPr>
          <a:xfrm>
            <a:off x="3127680" y="4926960"/>
            <a:ext cx="13231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Message queued to clickStream topic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4" name="Group 19"/>
          <p:cNvGrpSpPr/>
          <p:nvPr/>
        </p:nvGrpSpPr>
        <p:grpSpPr>
          <a:xfrm>
            <a:off x="1927800" y="5591520"/>
            <a:ext cx="1044720" cy="1253880"/>
            <a:chOff x="1927800" y="5591520"/>
            <a:chExt cx="1044720" cy="1253880"/>
          </a:xfrm>
        </p:grpSpPr>
        <p:sp>
          <p:nvSpPr>
            <p:cNvPr id="215" name="Freeform 20"/>
            <p:cNvSpPr/>
            <p:nvPr/>
          </p:nvSpPr>
          <p:spPr>
            <a:xfrm>
              <a:off x="1927800" y="5591520"/>
              <a:ext cx="1044720" cy="1253880"/>
            </a:xfrm>
            <a:custGeom>
              <a:avLst/>
              <a:gdLst>
                <a:gd name="textAreaLeft" fmla="*/ 0 w 1044720"/>
                <a:gd name="textAreaRight" fmla="*/ 1045800 w 1044720"/>
                <a:gd name="textAreaTop" fmla="*/ 0 h 1253880"/>
                <a:gd name="textAreaBottom" fmla="*/ 1254960 h 1253880"/>
              </a:gdLst>
              <a:ahLst/>
              <a:rect l="textAreaLeft" t="textAreaTop" r="textAreaRight" b="textAreaBottom"/>
              <a:pathLst>
                <a:path w="1394460" h="1673225">
                  <a:moveTo>
                    <a:pt x="0" y="0"/>
                  </a:moveTo>
                  <a:lnTo>
                    <a:pt x="1394460" y="0"/>
                  </a:lnTo>
                  <a:lnTo>
                    <a:pt x="1394460" y="1673225"/>
                  </a:lnTo>
                  <a:lnTo>
                    <a:pt x="0" y="167322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6" name="TextBox 21"/>
          <p:cNvSpPr/>
          <p:nvPr/>
        </p:nvSpPr>
        <p:spPr>
          <a:xfrm>
            <a:off x="3127680" y="5781600"/>
            <a:ext cx="2613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Spark Streaming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22"/>
          <p:cNvSpPr/>
          <p:nvPr/>
        </p:nvSpPr>
        <p:spPr>
          <a:xfrm>
            <a:off x="3127680" y="6181920"/>
            <a:ext cx="13231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Real-time ETL transformation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8" name="Group 23"/>
          <p:cNvGrpSpPr/>
          <p:nvPr/>
        </p:nvGrpSpPr>
        <p:grpSpPr>
          <a:xfrm>
            <a:off x="1927800" y="6846480"/>
            <a:ext cx="1044720" cy="1253880"/>
            <a:chOff x="1927800" y="6846480"/>
            <a:chExt cx="1044720" cy="1253880"/>
          </a:xfrm>
        </p:grpSpPr>
        <p:sp>
          <p:nvSpPr>
            <p:cNvPr id="219" name="Freeform 24"/>
            <p:cNvSpPr/>
            <p:nvPr/>
          </p:nvSpPr>
          <p:spPr>
            <a:xfrm>
              <a:off x="1927800" y="6846480"/>
              <a:ext cx="1044720" cy="1253880"/>
            </a:xfrm>
            <a:custGeom>
              <a:avLst/>
              <a:gdLst>
                <a:gd name="textAreaLeft" fmla="*/ 0 w 1044720"/>
                <a:gd name="textAreaRight" fmla="*/ 1045800 w 1044720"/>
                <a:gd name="textAreaTop" fmla="*/ 0 h 1253880"/>
                <a:gd name="textAreaBottom" fmla="*/ 1254960 h 1253880"/>
              </a:gdLst>
              <a:ahLst/>
              <a:rect l="textAreaLeft" t="textAreaTop" r="textAreaRight" b="textAreaBottom"/>
              <a:pathLst>
                <a:path w="1394460" h="1673225">
                  <a:moveTo>
                    <a:pt x="0" y="0"/>
                  </a:moveTo>
                  <a:lnTo>
                    <a:pt x="1394460" y="0"/>
                  </a:lnTo>
                  <a:lnTo>
                    <a:pt x="1394460" y="1673225"/>
                  </a:lnTo>
                  <a:lnTo>
                    <a:pt x="0" y="167322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0" name="TextBox 25"/>
          <p:cNvSpPr/>
          <p:nvPr/>
        </p:nvSpPr>
        <p:spPr>
          <a:xfrm>
            <a:off x="3127680" y="7036560"/>
            <a:ext cx="2613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MinIO Storage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26"/>
          <p:cNvSpPr/>
          <p:nvPr/>
        </p:nvSpPr>
        <p:spPr>
          <a:xfrm>
            <a:off x="3127680" y="7436880"/>
            <a:ext cx="13231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Parquet files in data lake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2" name="Group 27"/>
          <p:cNvGrpSpPr/>
          <p:nvPr/>
        </p:nvGrpSpPr>
        <p:grpSpPr>
          <a:xfrm>
            <a:off x="1923120" y="8270280"/>
            <a:ext cx="4716360" cy="1155600"/>
            <a:chOff x="1923120" y="8270280"/>
            <a:chExt cx="4716360" cy="1155600"/>
          </a:xfrm>
        </p:grpSpPr>
        <p:sp>
          <p:nvSpPr>
            <p:cNvPr id="223" name="Freeform 28"/>
            <p:cNvSpPr/>
            <p:nvPr/>
          </p:nvSpPr>
          <p:spPr>
            <a:xfrm>
              <a:off x="1927800" y="8274960"/>
              <a:ext cx="4706640" cy="1146240"/>
            </a:xfrm>
            <a:custGeom>
              <a:avLst/>
              <a:gdLst>
                <a:gd name="textAreaLeft" fmla="*/ 0 w 4706640"/>
                <a:gd name="textAreaRight" fmla="*/ 4707720 w 4706640"/>
                <a:gd name="textAreaTop" fmla="*/ 0 h 1146240"/>
                <a:gd name="textAreaBottom" fmla="*/ 1147320 h 1146240"/>
              </a:gdLst>
              <a:ahLst/>
              <a:rect l="textAreaLeft" t="textAreaTop" r="textAreaRight" b="textAreaBottom"/>
              <a:pathLst>
                <a:path w="6277102" h="1529715">
                  <a:moveTo>
                    <a:pt x="0" y="117094"/>
                  </a:moveTo>
                  <a:cubicBezTo>
                    <a:pt x="0" y="52451"/>
                    <a:pt x="52832" y="0"/>
                    <a:pt x="117856" y="0"/>
                  </a:cubicBezTo>
                  <a:lnTo>
                    <a:pt x="6159246" y="0"/>
                  </a:lnTo>
                  <a:cubicBezTo>
                    <a:pt x="6224397" y="0"/>
                    <a:pt x="6277102" y="52451"/>
                    <a:pt x="6277102" y="117094"/>
                  </a:cubicBezTo>
                  <a:lnTo>
                    <a:pt x="6277102" y="1412621"/>
                  </a:lnTo>
                  <a:cubicBezTo>
                    <a:pt x="6277102" y="1477264"/>
                    <a:pt x="6224270" y="1529715"/>
                    <a:pt x="6159246" y="1529715"/>
                  </a:cubicBezTo>
                  <a:lnTo>
                    <a:pt x="117856" y="1529715"/>
                  </a:lnTo>
                  <a:cubicBezTo>
                    <a:pt x="52705" y="1529715"/>
                    <a:pt x="0" y="1477264"/>
                    <a:pt x="0" y="1412621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" name="Freeform 29"/>
            <p:cNvSpPr/>
            <p:nvPr/>
          </p:nvSpPr>
          <p:spPr>
            <a:xfrm>
              <a:off x="1923120" y="8270280"/>
              <a:ext cx="4716360" cy="1155600"/>
            </a:xfrm>
            <a:custGeom>
              <a:avLst/>
              <a:gdLst>
                <a:gd name="textAreaLeft" fmla="*/ 0 w 4716360"/>
                <a:gd name="textAreaRight" fmla="*/ 4717440 w 4716360"/>
                <a:gd name="textAreaTop" fmla="*/ 0 h 1155600"/>
                <a:gd name="textAreaBottom" fmla="*/ 1156680 h 1155600"/>
              </a:gdLst>
              <a:ahLst/>
              <a:rect l="textAreaLeft" t="textAreaTop" r="textAreaRight" b="textAreaBottom"/>
              <a:pathLst>
                <a:path w="6289802" h="1542415">
                  <a:moveTo>
                    <a:pt x="0" y="123444"/>
                  </a:moveTo>
                  <a:cubicBezTo>
                    <a:pt x="0" y="55245"/>
                    <a:pt x="55626" y="0"/>
                    <a:pt x="124206" y="0"/>
                  </a:cubicBezTo>
                  <a:lnTo>
                    <a:pt x="6165596" y="0"/>
                  </a:lnTo>
                  <a:lnTo>
                    <a:pt x="6165596" y="6350"/>
                  </a:lnTo>
                  <a:lnTo>
                    <a:pt x="6165596" y="0"/>
                  </a:lnTo>
                  <a:cubicBezTo>
                    <a:pt x="6234176" y="0"/>
                    <a:pt x="6289802" y="55245"/>
                    <a:pt x="6289802" y="123444"/>
                  </a:cubicBezTo>
                  <a:lnTo>
                    <a:pt x="6283452" y="123444"/>
                  </a:lnTo>
                  <a:lnTo>
                    <a:pt x="6289802" y="123444"/>
                  </a:lnTo>
                  <a:lnTo>
                    <a:pt x="6289802" y="1418971"/>
                  </a:lnTo>
                  <a:lnTo>
                    <a:pt x="6283452" y="1418971"/>
                  </a:lnTo>
                  <a:lnTo>
                    <a:pt x="6289802" y="1418971"/>
                  </a:lnTo>
                  <a:cubicBezTo>
                    <a:pt x="6289802" y="1487170"/>
                    <a:pt x="6234176" y="1542415"/>
                    <a:pt x="6165596" y="1542415"/>
                  </a:cubicBezTo>
                  <a:lnTo>
                    <a:pt x="6165596" y="1536065"/>
                  </a:lnTo>
                  <a:lnTo>
                    <a:pt x="6165596" y="1542415"/>
                  </a:lnTo>
                  <a:lnTo>
                    <a:pt x="124206" y="1542415"/>
                  </a:lnTo>
                  <a:lnTo>
                    <a:pt x="124206" y="1536065"/>
                  </a:lnTo>
                  <a:lnTo>
                    <a:pt x="124206" y="1542415"/>
                  </a:lnTo>
                  <a:cubicBezTo>
                    <a:pt x="55626" y="1542415"/>
                    <a:pt x="0" y="1487170"/>
                    <a:pt x="0" y="1418971"/>
                  </a:cubicBezTo>
                  <a:lnTo>
                    <a:pt x="0" y="123444"/>
                  </a:lnTo>
                  <a:lnTo>
                    <a:pt x="6350" y="123444"/>
                  </a:lnTo>
                  <a:lnTo>
                    <a:pt x="0" y="123444"/>
                  </a:lnTo>
                  <a:moveTo>
                    <a:pt x="12700" y="123444"/>
                  </a:moveTo>
                  <a:lnTo>
                    <a:pt x="12700" y="1418971"/>
                  </a:lnTo>
                  <a:lnTo>
                    <a:pt x="6350" y="1418971"/>
                  </a:lnTo>
                  <a:lnTo>
                    <a:pt x="12700" y="1418971"/>
                  </a:lnTo>
                  <a:cubicBezTo>
                    <a:pt x="12700" y="1480058"/>
                    <a:pt x="62611" y="1529715"/>
                    <a:pt x="124206" y="1529715"/>
                  </a:cubicBezTo>
                  <a:lnTo>
                    <a:pt x="6165596" y="1529715"/>
                  </a:lnTo>
                  <a:cubicBezTo>
                    <a:pt x="6227191" y="1529715"/>
                    <a:pt x="6277102" y="1480058"/>
                    <a:pt x="6277102" y="1418971"/>
                  </a:cubicBezTo>
                  <a:lnTo>
                    <a:pt x="6277102" y="123444"/>
                  </a:lnTo>
                  <a:cubicBezTo>
                    <a:pt x="6277102" y="62357"/>
                    <a:pt x="6227191" y="12700"/>
                    <a:pt x="6165596" y="12700"/>
                  </a:cubicBezTo>
                  <a:lnTo>
                    <a:pt x="124206" y="12700"/>
                  </a:lnTo>
                  <a:lnTo>
                    <a:pt x="124206" y="6350"/>
                  </a:lnTo>
                  <a:lnTo>
                    <a:pt x="124206" y="12700"/>
                  </a:lnTo>
                  <a:cubicBezTo>
                    <a:pt x="62611" y="12700"/>
                    <a:pt x="12700" y="62357"/>
                    <a:pt x="12700" y="123444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5" name="TextBox 30"/>
          <p:cNvSpPr/>
          <p:nvPr/>
        </p:nvSpPr>
        <p:spPr>
          <a:xfrm>
            <a:off x="2146320" y="8474400"/>
            <a:ext cx="2613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Event Types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31"/>
          <p:cNvSpPr/>
          <p:nvPr/>
        </p:nvSpPr>
        <p:spPr>
          <a:xfrm>
            <a:off x="2146320" y="8875080"/>
            <a:ext cx="426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View, cart, purchase, and review tracking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Group 32"/>
          <p:cNvGrpSpPr/>
          <p:nvPr/>
        </p:nvGrpSpPr>
        <p:grpSpPr>
          <a:xfrm>
            <a:off x="6784920" y="8270280"/>
            <a:ext cx="4716360" cy="1155600"/>
            <a:chOff x="6784920" y="8270280"/>
            <a:chExt cx="4716360" cy="1155600"/>
          </a:xfrm>
        </p:grpSpPr>
        <p:sp>
          <p:nvSpPr>
            <p:cNvPr id="228" name="Freeform 33"/>
            <p:cNvSpPr/>
            <p:nvPr/>
          </p:nvSpPr>
          <p:spPr>
            <a:xfrm>
              <a:off x="6789960" y="8274960"/>
              <a:ext cx="4707000" cy="1146240"/>
            </a:xfrm>
            <a:custGeom>
              <a:avLst/>
              <a:gdLst>
                <a:gd name="textAreaLeft" fmla="*/ 0 w 4707000"/>
                <a:gd name="textAreaRight" fmla="*/ 4708080 w 4707000"/>
                <a:gd name="textAreaTop" fmla="*/ 0 h 1146240"/>
                <a:gd name="textAreaBottom" fmla="*/ 1147320 h 1146240"/>
              </a:gdLst>
              <a:ahLst/>
              <a:rect l="textAreaLeft" t="textAreaTop" r="textAreaRight" b="textAreaBottom"/>
              <a:pathLst>
                <a:path w="6277356" h="1529715">
                  <a:moveTo>
                    <a:pt x="0" y="117094"/>
                  </a:moveTo>
                  <a:cubicBezTo>
                    <a:pt x="0" y="52451"/>
                    <a:pt x="52832" y="0"/>
                    <a:pt x="117856" y="0"/>
                  </a:cubicBezTo>
                  <a:lnTo>
                    <a:pt x="6159500" y="0"/>
                  </a:lnTo>
                  <a:cubicBezTo>
                    <a:pt x="6224651" y="0"/>
                    <a:pt x="6277356" y="52451"/>
                    <a:pt x="6277356" y="117094"/>
                  </a:cubicBezTo>
                  <a:lnTo>
                    <a:pt x="6277356" y="1412621"/>
                  </a:lnTo>
                  <a:cubicBezTo>
                    <a:pt x="6277356" y="1477264"/>
                    <a:pt x="6224524" y="1529715"/>
                    <a:pt x="6159500" y="1529715"/>
                  </a:cubicBezTo>
                  <a:lnTo>
                    <a:pt x="117856" y="1529715"/>
                  </a:lnTo>
                  <a:cubicBezTo>
                    <a:pt x="52705" y="1529715"/>
                    <a:pt x="0" y="1477264"/>
                    <a:pt x="0" y="1412621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" name="Freeform 34"/>
            <p:cNvSpPr/>
            <p:nvPr/>
          </p:nvSpPr>
          <p:spPr>
            <a:xfrm>
              <a:off x="6784920" y="8270280"/>
              <a:ext cx="4716360" cy="1155600"/>
            </a:xfrm>
            <a:custGeom>
              <a:avLst/>
              <a:gdLst>
                <a:gd name="textAreaLeft" fmla="*/ 0 w 4716360"/>
                <a:gd name="textAreaRight" fmla="*/ 4717440 w 4716360"/>
                <a:gd name="textAreaTop" fmla="*/ 0 h 1155600"/>
                <a:gd name="textAreaBottom" fmla="*/ 1156680 h 1155600"/>
              </a:gdLst>
              <a:ahLst/>
              <a:rect l="textAreaLeft" t="textAreaTop" r="textAreaRight" b="textAreaBottom"/>
              <a:pathLst>
                <a:path w="6290056" h="1542415">
                  <a:moveTo>
                    <a:pt x="0" y="123444"/>
                  </a:moveTo>
                  <a:cubicBezTo>
                    <a:pt x="0" y="55245"/>
                    <a:pt x="55626" y="0"/>
                    <a:pt x="124206" y="0"/>
                  </a:cubicBezTo>
                  <a:lnTo>
                    <a:pt x="6165850" y="0"/>
                  </a:lnTo>
                  <a:lnTo>
                    <a:pt x="6165850" y="6350"/>
                  </a:lnTo>
                  <a:lnTo>
                    <a:pt x="6165850" y="0"/>
                  </a:lnTo>
                  <a:cubicBezTo>
                    <a:pt x="6234430" y="0"/>
                    <a:pt x="6290056" y="55245"/>
                    <a:pt x="6290056" y="123444"/>
                  </a:cubicBezTo>
                  <a:lnTo>
                    <a:pt x="6283706" y="123444"/>
                  </a:lnTo>
                  <a:lnTo>
                    <a:pt x="6290056" y="123444"/>
                  </a:lnTo>
                  <a:lnTo>
                    <a:pt x="6290056" y="1418971"/>
                  </a:lnTo>
                  <a:lnTo>
                    <a:pt x="6283706" y="1418971"/>
                  </a:lnTo>
                  <a:lnTo>
                    <a:pt x="6290056" y="1418971"/>
                  </a:lnTo>
                  <a:cubicBezTo>
                    <a:pt x="6290056" y="1487170"/>
                    <a:pt x="6234430" y="1542415"/>
                    <a:pt x="6165850" y="1542415"/>
                  </a:cubicBezTo>
                  <a:lnTo>
                    <a:pt x="6165850" y="1536065"/>
                  </a:lnTo>
                  <a:lnTo>
                    <a:pt x="6165850" y="1542415"/>
                  </a:lnTo>
                  <a:lnTo>
                    <a:pt x="124206" y="1542415"/>
                  </a:lnTo>
                  <a:lnTo>
                    <a:pt x="124206" y="1536065"/>
                  </a:lnTo>
                  <a:lnTo>
                    <a:pt x="124206" y="1542415"/>
                  </a:lnTo>
                  <a:cubicBezTo>
                    <a:pt x="55626" y="1542415"/>
                    <a:pt x="0" y="1487170"/>
                    <a:pt x="0" y="1418971"/>
                  </a:cubicBezTo>
                  <a:lnTo>
                    <a:pt x="0" y="123444"/>
                  </a:lnTo>
                  <a:lnTo>
                    <a:pt x="6350" y="123444"/>
                  </a:lnTo>
                  <a:lnTo>
                    <a:pt x="0" y="123444"/>
                  </a:lnTo>
                  <a:moveTo>
                    <a:pt x="12700" y="123444"/>
                  </a:moveTo>
                  <a:lnTo>
                    <a:pt x="12700" y="1418971"/>
                  </a:lnTo>
                  <a:lnTo>
                    <a:pt x="6350" y="1418971"/>
                  </a:lnTo>
                  <a:lnTo>
                    <a:pt x="12700" y="1418971"/>
                  </a:lnTo>
                  <a:cubicBezTo>
                    <a:pt x="12700" y="1480058"/>
                    <a:pt x="62611" y="1529715"/>
                    <a:pt x="124206" y="1529715"/>
                  </a:cubicBezTo>
                  <a:lnTo>
                    <a:pt x="6165850" y="1529715"/>
                  </a:lnTo>
                  <a:cubicBezTo>
                    <a:pt x="6227445" y="1529715"/>
                    <a:pt x="6277356" y="1480058"/>
                    <a:pt x="6277356" y="1418971"/>
                  </a:cubicBezTo>
                  <a:lnTo>
                    <a:pt x="6277356" y="123444"/>
                  </a:lnTo>
                  <a:cubicBezTo>
                    <a:pt x="6277356" y="62357"/>
                    <a:pt x="6227445" y="12700"/>
                    <a:pt x="6165850" y="12700"/>
                  </a:cubicBezTo>
                  <a:lnTo>
                    <a:pt x="124206" y="12700"/>
                  </a:lnTo>
                  <a:lnTo>
                    <a:pt x="124206" y="6350"/>
                  </a:lnTo>
                  <a:lnTo>
                    <a:pt x="124206" y="12700"/>
                  </a:lnTo>
                  <a:cubicBezTo>
                    <a:pt x="62611" y="12700"/>
                    <a:pt x="12700" y="62357"/>
                    <a:pt x="12700" y="123444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0" name="TextBox 35"/>
          <p:cNvSpPr/>
          <p:nvPr/>
        </p:nvSpPr>
        <p:spPr>
          <a:xfrm>
            <a:off x="7008480" y="8474400"/>
            <a:ext cx="2613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Scalable Processing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36"/>
          <p:cNvSpPr/>
          <p:nvPr/>
        </p:nvSpPr>
        <p:spPr>
          <a:xfrm>
            <a:off x="7008480" y="8875080"/>
            <a:ext cx="426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High-throughput message handling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2" name="Group 37"/>
          <p:cNvGrpSpPr/>
          <p:nvPr/>
        </p:nvGrpSpPr>
        <p:grpSpPr>
          <a:xfrm>
            <a:off x="11647440" y="8270280"/>
            <a:ext cx="4716360" cy="1155600"/>
            <a:chOff x="11647440" y="8270280"/>
            <a:chExt cx="4716360" cy="1155600"/>
          </a:xfrm>
        </p:grpSpPr>
        <p:sp>
          <p:nvSpPr>
            <p:cNvPr id="233" name="Freeform 38"/>
            <p:cNvSpPr/>
            <p:nvPr/>
          </p:nvSpPr>
          <p:spPr>
            <a:xfrm>
              <a:off x="11652120" y="8274960"/>
              <a:ext cx="4706640" cy="1146240"/>
            </a:xfrm>
            <a:custGeom>
              <a:avLst/>
              <a:gdLst>
                <a:gd name="textAreaLeft" fmla="*/ 0 w 4706640"/>
                <a:gd name="textAreaRight" fmla="*/ 4707720 w 4706640"/>
                <a:gd name="textAreaTop" fmla="*/ 0 h 1146240"/>
                <a:gd name="textAreaBottom" fmla="*/ 1147320 h 1146240"/>
              </a:gdLst>
              <a:ahLst/>
              <a:rect l="textAreaLeft" t="textAreaTop" r="textAreaRight" b="textAreaBottom"/>
              <a:pathLst>
                <a:path w="6277102" h="1529715">
                  <a:moveTo>
                    <a:pt x="0" y="117094"/>
                  </a:moveTo>
                  <a:cubicBezTo>
                    <a:pt x="0" y="52451"/>
                    <a:pt x="52832" y="0"/>
                    <a:pt x="117856" y="0"/>
                  </a:cubicBezTo>
                  <a:lnTo>
                    <a:pt x="6159246" y="0"/>
                  </a:lnTo>
                  <a:cubicBezTo>
                    <a:pt x="6224397" y="0"/>
                    <a:pt x="6277102" y="52451"/>
                    <a:pt x="6277102" y="117094"/>
                  </a:cubicBezTo>
                  <a:lnTo>
                    <a:pt x="6277102" y="1412621"/>
                  </a:lnTo>
                  <a:cubicBezTo>
                    <a:pt x="6277102" y="1477264"/>
                    <a:pt x="6224270" y="1529715"/>
                    <a:pt x="6159246" y="1529715"/>
                  </a:cubicBezTo>
                  <a:lnTo>
                    <a:pt x="117856" y="1529715"/>
                  </a:lnTo>
                  <a:cubicBezTo>
                    <a:pt x="52705" y="1529715"/>
                    <a:pt x="0" y="1477264"/>
                    <a:pt x="0" y="1412621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Freeform 39"/>
            <p:cNvSpPr/>
            <p:nvPr/>
          </p:nvSpPr>
          <p:spPr>
            <a:xfrm>
              <a:off x="11647440" y="8270280"/>
              <a:ext cx="4716360" cy="1155600"/>
            </a:xfrm>
            <a:custGeom>
              <a:avLst/>
              <a:gdLst>
                <a:gd name="textAreaLeft" fmla="*/ 0 w 4716360"/>
                <a:gd name="textAreaRight" fmla="*/ 4717440 w 4716360"/>
                <a:gd name="textAreaTop" fmla="*/ 0 h 1155600"/>
                <a:gd name="textAreaBottom" fmla="*/ 1156680 h 1155600"/>
              </a:gdLst>
              <a:ahLst/>
              <a:rect l="textAreaLeft" t="textAreaTop" r="textAreaRight" b="textAreaBottom"/>
              <a:pathLst>
                <a:path w="6289802" h="1542415">
                  <a:moveTo>
                    <a:pt x="0" y="123444"/>
                  </a:moveTo>
                  <a:cubicBezTo>
                    <a:pt x="0" y="55245"/>
                    <a:pt x="55626" y="0"/>
                    <a:pt x="124206" y="0"/>
                  </a:cubicBezTo>
                  <a:lnTo>
                    <a:pt x="6165596" y="0"/>
                  </a:lnTo>
                  <a:lnTo>
                    <a:pt x="6165596" y="6350"/>
                  </a:lnTo>
                  <a:lnTo>
                    <a:pt x="6165596" y="0"/>
                  </a:lnTo>
                  <a:cubicBezTo>
                    <a:pt x="6234176" y="0"/>
                    <a:pt x="6289802" y="55245"/>
                    <a:pt x="6289802" y="123444"/>
                  </a:cubicBezTo>
                  <a:lnTo>
                    <a:pt x="6283452" y="123444"/>
                  </a:lnTo>
                  <a:lnTo>
                    <a:pt x="6289802" y="123444"/>
                  </a:lnTo>
                  <a:lnTo>
                    <a:pt x="6289802" y="1418971"/>
                  </a:lnTo>
                  <a:lnTo>
                    <a:pt x="6283452" y="1418971"/>
                  </a:lnTo>
                  <a:lnTo>
                    <a:pt x="6289802" y="1418971"/>
                  </a:lnTo>
                  <a:cubicBezTo>
                    <a:pt x="6289802" y="1487170"/>
                    <a:pt x="6234176" y="1542415"/>
                    <a:pt x="6165596" y="1542415"/>
                  </a:cubicBezTo>
                  <a:lnTo>
                    <a:pt x="6165596" y="1536065"/>
                  </a:lnTo>
                  <a:lnTo>
                    <a:pt x="6165596" y="1542415"/>
                  </a:lnTo>
                  <a:lnTo>
                    <a:pt x="124206" y="1542415"/>
                  </a:lnTo>
                  <a:lnTo>
                    <a:pt x="124206" y="1536065"/>
                  </a:lnTo>
                  <a:lnTo>
                    <a:pt x="124206" y="1542415"/>
                  </a:lnTo>
                  <a:cubicBezTo>
                    <a:pt x="55626" y="1542415"/>
                    <a:pt x="0" y="1487170"/>
                    <a:pt x="0" y="1418971"/>
                  </a:cubicBezTo>
                  <a:lnTo>
                    <a:pt x="0" y="123444"/>
                  </a:lnTo>
                  <a:lnTo>
                    <a:pt x="6350" y="123444"/>
                  </a:lnTo>
                  <a:lnTo>
                    <a:pt x="0" y="123444"/>
                  </a:lnTo>
                  <a:moveTo>
                    <a:pt x="12700" y="123444"/>
                  </a:moveTo>
                  <a:lnTo>
                    <a:pt x="12700" y="1418971"/>
                  </a:lnTo>
                  <a:lnTo>
                    <a:pt x="6350" y="1418971"/>
                  </a:lnTo>
                  <a:lnTo>
                    <a:pt x="12700" y="1418971"/>
                  </a:lnTo>
                  <a:cubicBezTo>
                    <a:pt x="12700" y="1480058"/>
                    <a:pt x="62611" y="1529715"/>
                    <a:pt x="124206" y="1529715"/>
                  </a:cubicBezTo>
                  <a:lnTo>
                    <a:pt x="6165596" y="1529715"/>
                  </a:lnTo>
                  <a:cubicBezTo>
                    <a:pt x="6227191" y="1529715"/>
                    <a:pt x="6277102" y="1480058"/>
                    <a:pt x="6277102" y="1418971"/>
                  </a:cubicBezTo>
                  <a:lnTo>
                    <a:pt x="6277102" y="123444"/>
                  </a:lnTo>
                  <a:cubicBezTo>
                    <a:pt x="6277102" y="62357"/>
                    <a:pt x="6227191" y="12700"/>
                    <a:pt x="6165596" y="12700"/>
                  </a:cubicBezTo>
                  <a:lnTo>
                    <a:pt x="124206" y="12700"/>
                  </a:lnTo>
                  <a:lnTo>
                    <a:pt x="124206" y="6350"/>
                  </a:lnTo>
                  <a:lnTo>
                    <a:pt x="124206" y="12700"/>
                  </a:lnTo>
                  <a:cubicBezTo>
                    <a:pt x="62611" y="12700"/>
                    <a:pt x="12700" y="62357"/>
                    <a:pt x="12700" y="123444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5" name="TextBox 40"/>
          <p:cNvSpPr/>
          <p:nvPr/>
        </p:nvSpPr>
        <p:spPr>
          <a:xfrm>
            <a:off x="11870640" y="8474400"/>
            <a:ext cx="261324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63"/>
              </a:lnSpc>
            </a:pPr>
            <a:r>
              <a:rPr b="0" lang="en-US" sz="2000" spc="-1" strike="noStrike">
                <a:solidFill>
                  <a:srgbClr val="2c3249"/>
                </a:solidFill>
                <a:latin typeface="arial"/>
                <a:ea typeface="arial"/>
              </a:rPr>
              <a:t>Real-Time Analytics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41"/>
          <p:cNvSpPr/>
          <p:nvPr/>
        </p:nvSpPr>
        <p:spPr>
          <a:xfrm>
            <a:off x="11870640" y="8875080"/>
            <a:ext cx="4269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Martel Sans"/>
                <a:ea typeface="Martel Sans"/>
              </a:rPr>
              <a:t>Immediate data availability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238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240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1" name="TextBox 6"/>
          <p:cNvSpPr/>
          <p:nvPr/>
        </p:nvSpPr>
        <p:spPr>
          <a:xfrm>
            <a:off x="1646280" y="789120"/>
            <a:ext cx="630468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312"/>
              </a:lnSpc>
            </a:pPr>
            <a:r>
              <a:rPr b="0" lang="en-US" sz="4250" spc="-1" strike="noStrike">
                <a:solidFill>
                  <a:srgbClr val="272d45"/>
                </a:solidFill>
                <a:latin typeface="arial"/>
                <a:ea typeface="arial"/>
              </a:rPr>
              <a:t>Data Lake Implementation</a:t>
            </a:r>
            <a:endParaRPr b="0" lang="en-IN" sz="4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7"/>
          <p:cNvSpPr/>
          <p:nvPr/>
        </p:nvSpPr>
        <p:spPr>
          <a:xfrm>
            <a:off x="1646280" y="2662560"/>
            <a:ext cx="325872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86"/>
              </a:lnSpc>
            </a:pPr>
            <a:r>
              <a:rPr b="0" lang="en-US" sz="2560" spc="-1" strike="noStrike">
                <a:solidFill>
                  <a:srgbClr val="272d45"/>
                </a:solidFill>
                <a:latin typeface="arial"/>
                <a:ea typeface="arial"/>
              </a:rPr>
              <a:t>Storage Architecture</a:t>
            </a:r>
            <a:endParaRPr b="0" lang="en-IN" sz="2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1646280" y="3227040"/>
            <a:ext cx="490284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MinIO provides S3-compatible object storage for the data lake, with Spark Structured Streaming handling ETL processes. Data is stored in Parquet format for efficient querying and analysis.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9"/>
          <p:cNvSpPr/>
          <p:nvPr/>
        </p:nvSpPr>
        <p:spPr>
          <a:xfrm>
            <a:off x="1646280" y="4911840"/>
            <a:ext cx="490284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254520" indent="-127080" defTabSz="914400">
              <a:lnSpc>
                <a:spcPts val="2375"/>
              </a:lnSpc>
              <a:buClr>
                <a:srgbClr val="2c3249"/>
              </a:buClr>
              <a:buFont typeface="Arial"/>
              <a:buChar char="•"/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Parquet format for columnar storage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  <a:p>
            <a:pPr lvl="1" marL="254520" indent="-127080" defTabSz="914400">
              <a:lnSpc>
                <a:spcPts val="2375"/>
              </a:lnSpc>
              <a:buClr>
                <a:srgbClr val="2c3249"/>
              </a:buClr>
              <a:buFont typeface="Arial"/>
              <a:buChar char="•"/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Checkpoint mechanism for fault tolerance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  <a:p>
            <a:pPr lvl="1" marL="254520" indent="-127080" defTabSz="914400">
              <a:lnSpc>
                <a:spcPts val="2375"/>
              </a:lnSpc>
              <a:buClr>
                <a:srgbClr val="2c3249"/>
              </a:buClr>
              <a:buFont typeface="Arial"/>
              <a:buChar char="•"/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Partitioned data structure: s3a://datalake/orders/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  <a:p>
            <a:pPr lvl="1" marL="254520" indent="-127080" defTabSz="914400">
              <a:lnSpc>
                <a:spcPts val="2375"/>
              </a:lnSpc>
              <a:buClr>
                <a:srgbClr val="2c3249"/>
              </a:buClr>
              <a:buFont typeface="Arial"/>
              <a:buChar char="•"/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Automated bucket creation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5" name="Group 10"/>
          <p:cNvGrpSpPr/>
          <p:nvPr/>
        </p:nvGrpSpPr>
        <p:grpSpPr>
          <a:xfrm>
            <a:off x="7089840" y="1943280"/>
            <a:ext cx="9560520" cy="5335560"/>
            <a:chOff x="7089840" y="1943280"/>
            <a:chExt cx="9560520" cy="5335560"/>
          </a:xfrm>
        </p:grpSpPr>
        <p:sp>
          <p:nvSpPr>
            <p:cNvPr id="246" name="Freeform 11"/>
            <p:cNvSpPr/>
            <p:nvPr/>
          </p:nvSpPr>
          <p:spPr>
            <a:xfrm>
              <a:off x="7089840" y="1943280"/>
              <a:ext cx="9560520" cy="5335560"/>
            </a:xfrm>
            <a:custGeom>
              <a:avLst/>
              <a:gdLst>
                <a:gd name="textAreaLeft" fmla="*/ 0 w 9560520"/>
                <a:gd name="textAreaRight" fmla="*/ 9561600 w 9560520"/>
                <a:gd name="textAreaTop" fmla="*/ 0 h 5335560"/>
                <a:gd name="textAreaBottom" fmla="*/ 5336640 h 5335560"/>
              </a:gdLst>
              <a:ahLst/>
              <a:rect l="textAreaLeft" t="textAreaTop" r="textAreaRight" b="textAreaBottom"/>
              <a:pathLst>
                <a:path w="12748768" h="7115556">
                  <a:moveTo>
                    <a:pt x="0" y="0"/>
                  </a:moveTo>
                  <a:lnTo>
                    <a:pt x="12748768" y="0"/>
                  </a:lnTo>
                  <a:lnTo>
                    <a:pt x="12748768" y="7115556"/>
                  </a:lnTo>
                  <a:lnTo>
                    <a:pt x="0" y="711555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7" name="Freeform 12"/>
          <p:cNvSpPr/>
          <p:nvPr/>
        </p:nvSpPr>
        <p:spPr>
          <a:xfrm>
            <a:off x="1646280" y="7654680"/>
            <a:ext cx="542160" cy="542160"/>
          </a:xfrm>
          <a:custGeom>
            <a:avLst/>
            <a:gdLst>
              <a:gd name="textAreaLeft" fmla="*/ 0 w 542160"/>
              <a:gd name="textAreaRight" fmla="*/ 543240 w 542160"/>
              <a:gd name="textAreaTop" fmla="*/ 0 h 542160"/>
              <a:gd name="textAreaBottom" fmla="*/ 543240 h 542160"/>
            </a:gdLst>
            <a:ahLst/>
            <a:rect l="textAreaLeft" t="textAreaTop" r="textAreaRight" b="textAreaBottom"/>
            <a:pathLst>
              <a:path w="543220" h="543220">
                <a:moveTo>
                  <a:pt x="0" y="0"/>
                </a:moveTo>
                <a:lnTo>
                  <a:pt x="543220" y="0"/>
                </a:lnTo>
                <a:lnTo>
                  <a:pt x="543220" y="543221"/>
                </a:lnTo>
                <a:lnTo>
                  <a:pt x="0" y="5432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3"/>
          <p:cNvSpPr/>
          <p:nvPr/>
        </p:nvSpPr>
        <p:spPr>
          <a:xfrm>
            <a:off x="1646280" y="8387280"/>
            <a:ext cx="271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5"/>
              </a:lnSpc>
            </a:pPr>
            <a:r>
              <a:rPr b="0" lang="en-US" sz="2130" spc="-1" strike="noStrike">
                <a:solidFill>
                  <a:srgbClr val="2c3249"/>
                </a:solidFill>
                <a:latin typeface="arial"/>
                <a:ea typeface="arial"/>
              </a:rPr>
              <a:t>MinIO Storage</a:t>
            </a:r>
            <a:endParaRPr b="0" lang="en-IN" sz="2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4"/>
          <p:cNvSpPr/>
          <p:nvPr/>
        </p:nvSpPr>
        <p:spPr>
          <a:xfrm>
            <a:off x="1646280" y="8817120"/>
            <a:ext cx="48585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S3-compatible object storage for scalable data lake implementation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Freeform 15"/>
          <p:cNvSpPr/>
          <p:nvPr/>
        </p:nvSpPr>
        <p:spPr>
          <a:xfrm>
            <a:off x="6714000" y="7654680"/>
            <a:ext cx="542160" cy="542160"/>
          </a:xfrm>
          <a:custGeom>
            <a:avLst/>
            <a:gdLst>
              <a:gd name="textAreaLeft" fmla="*/ 0 w 542160"/>
              <a:gd name="textAreaRight" fmla="*/ 543240 w 542160"/>
              <a:gd name="textAreaTop" fmla="*/ 0 h 542160"/>
              <a:gd name="textAreaBottom" fmla="*/ 543240 h 542160"/>
            </a:gdLst>
            <a:ahLst/>
            <a:rect l="textAreaLeft" t="textAreaTop" r="textAreaRight" b="textAreaBottom"/>
            <a:pathLst>
              <a:path w="543220" h="543220">
                <a:moveTo>
                  <a:pt x="0" y="0"/>
                </a:moveTo>
                <a:lnTo>
                  <a:pt x="543220" y="0"/>
                </a:lnTo>
                <a:lnTo>
                  <a:pt x="543220" y="543221"/>
                </a:lnTo>
                <a:lnTo>
                  <a:pt x="0" y="5432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6"/>
          <p:cNvSpPr/>
          <p:nvPr/>
        </p:nvSpPr>
        <p:spPr>
          <a:xfrm>
            <a:off x="6714000" y="8387280"/>
            <a:ext cx="271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5"/>
              </a:lnSpc>
            </a:pPr>
            <a:r>
              <a:rPr b="0" lang="en-US" sz="2130" spc="-1" strike="noStrike">
                <a:solidFill>
                  <a:srgbClr val="2c3249"/>
                </a:solidFill>
                <a:latin typeface="arial"/>
                <a:ea typeface="arial"/>
              </a:rPr>
              <a:t>Spark Streaming</a:t>
            </a:r>
            <a:endParaRPr b="0" lang="en-IN" sz="2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7"/>
          <p:cNvSpPr/>
          <p:nvPr/>
        </p:nvSpPr>
        <p:spPr>
          <a:xfrm>
            <a:off x="6714000" y="8817120"/>
            <a:ext cx="48585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Real-time ETL processing with structured streaming capabilities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Freeform 18"/>
          <p:cNvSpPr/>
          <p:nvPr/>
        </p:nvSpPr>
        <p:spPr>
          <a:xfrm>
            <a:off x="11782080" y="7654680"/>
            <a:ext cx="542160" cy="542160"/>
          </a:xfrm>
          <a:custGeom>
            <a:avLst/>
            <a:gdLst>
              <a:gd name="textAreaLeft" fmla="*/ 0 w 542160"/>
              <a:gd name="textAreaRight" fmla="*/ 543240 w 542160"/>
              <a:gd name="textAreaTop" fmla="*/ 0 h 542160"/>
              <a:gd name="textAreaBottom" fmla="*/ 543240 h 542160"/>
            </a:gdLst>
            <a:ahLst/>
            <a:rect l="textAreaLeft" t="textAreaTop" r="textAreaRight" b="textAreaBottom"/>
            <a:pathLst>
              <a:path w="543220" h="543220">
                <a:moveTo>
                  <a:pt x="0" y="0"/>
                </a:moveTo>
                <a:lnTo>
                  <a:pt x="543221" y="0"/>
                </a:lnTo>
                <a:lnTo>
                  <a:pt x="543221" y="543221"/>
                </a:lnTo>
                <a:lnTo>
                  <a:pt x="0" y="5432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9"/>
          <p:cNvSpPr/>
          <p:nvPr/>
        </p:nvSpPr>
        <p:spPr>
          <a:xfrm>
            <a:off x="11782080" y="8387280"/>
            <a:ext cx="271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5"/>
              </a:lnSpc>
            </a:pPr>
            <a:r>
              <a:rPr b="0" lang="en-US" sz="2130" spc="-1" strike="noStrike">
                <a:solidFill>
                  <a:srgbClr val="2c3249"/>
                </a:solidFill>
                <a:latin typeface="arial"/>
                <a:ea typeface="arial"/>
              </a:rPr>
              <a:t>Parquet Format</a:t>
            </a:r>
            <a:endParaRPr b="0" lang="en-IN" sz="2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20"/>
          <p:cNvSpPr/>
          <p:nvPr/>
        </p:nvSpPr>
        <p:spPr>
          <a:xfrm>
            <a:off x="11782080" y="8817120"/>
            <a:ext cx="48585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679" spc="-1" strike="noStrike">
                <a:solidFill>
                  <a:srgbClr val="2c3249"/>
                </a:solidFill>
                <a:latin typeface="Martel Sans"/>
                <a:ea typeface="Martel Sans"/>
              </a:rPr>
              <a:t>Columnar storage for efficient compression and querying</a:t>
            </a:r>
            <a:endParaRPr b="0" lang="en-IN" sz="167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257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8" name="Group 4"/>
          <p:cNvGrpSpPr/>
          <p:nvPr/>
        </p:nvGrpSpPr>
        <p:grpSpPr>
          <a:xfrm>
            <a:off x="0" y="36000"/>
            <a:ext cx="18286920" cy="10285920"/>
            <a:chOff x="0" y="36000"/>
            <a:chExt cx="18286920" cy="10285920"/>
          </a:xfrm>
        </p:grpSpPr>
        <p:sp>
          <p:nvSpPr>
            <p:cNvPr id="259" name="Freeform 5"/>
            <p:cNvSpPr/>
            <p:nvPr/>
          </p:nvSpPr>
          <p:spPr>
            <a:xfrm>
              <a:off x="0" y="3600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0" name="TextBox 6"/>
          <p:cNvSpPr/>
          <p:nvPr/>
        </p:nvSpPr>
        <p:spPr>
          <a:xfrm>
            <a:off x="1424520" y="583560"/>
            <a:ext cx="865476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99"/>
              </a:lnSpc>
            </a:pPr>
            <a:r>
              <a:rPr b="0" lang="en-US" sz="4370" spc="-1" strike="noStrike">
                <a:solidFill>
                  <a:srgbClr val="272d45"/>
                </a:solidFill>
                <a:latin typeface="arial"/>
                <a:ea typeface="arial"/>
              </a:rPr>
              <a:t>Admin Dashboard &amp; Live Analytics</a:t>
            </a:r>
            <a:endParaRPr b="0" lang="en-IN" sz="43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1" name="Group 7"/>
          <p:cNvGrpSpPr/>
          <p:nvPr/>
        </p:nvGrpSpPr>
        <p:grpSpPr>
          <a:xfrm>
            <a:off x="1419840" y="1678680"/>
            <a:ext cx="5037120" cy="1890720"/>
            <a:chOff x="1419840" y="1678680"/>
            <a:chExt cx="5037120" cy="1890720"/>
          </a:xfrm>
        </p:grpSpPr>
        <p:sp>
          <p:nvSpPr>
            <p:cNvPr id="262" name="Freeform 8"/>
            <p:cNvSpPr/>
            <p:nvPr/>
          </p:nvSpPr>
          <p:spPr>
            <a:xfrm>
              <a:off x="1424520" y="1683720"/>
              <a:ext cx="5027400" cy="1881000"/>
            </a:xfrm>
            <a:custGeom>
              <a:avLst/>
              <a:gdLst>
                <a:gd name="textAreaLeft" fmla="*/ 0 w 5027400"/>
                <a:gd name="textAreaRight" fmla="*/ 5028480 w 5027400"/>
                <a:gd name="textAreaTop" fmla="*/ 0 h 1881000"/>
                <a:gd name="textAreaBottom" fmla="*/ 1882080 h 1881000"/>
              </a:gdLst>
              <a:ahLst/>
              <a:rect l="textAreaLeft" t="textAreaTop" r="textAreaRight" b="textAreaBottom"/>
              <a:pathLst>
                <a:path w="6704838" h="2509520">
                  <a:moveTo>
                    <a:pt x="0" y="125349"/>
                  </a:moveTo>
                  <a:cubicBezTo>
                    <a:pt x="0" y="56134"/>
                    <a:pt x="56261" y="0"/>
                    <a:pt x="125730" y="0"/>
                  </a:cubicBezTo>
                  <a:lnTo>
                    <a:pt x="6579108" y="0"/>
                  </a:lnTo>
                  <a:cubicBezTo>
                    <a:pt x="6648576" y="0"/>
                    <a:pt x="6704838" y="56134"/>
                    <a:pt x="6704838" y="125349"/>
                  </a:cubicBezTo>
                  <a:lnTo>
                    <a:pt x="6704838" y="2384171"/>
                  </a:lnTo>
                  <a:cubicBezTo>
                    <a:pt x="6704838" y="2453386"/>
                    <a:pt x="6648576" y="2509520"/>
                    <a:pt x="6579108" y="2509520"/>
                  </a:cubicBezTo>
                  <a:lnTo>
                    <a:pt x="125730" y="2509520"/>
                  </a:lnTo>
                  <a:cubicBezTo>
                    <a:pt x="56261" y="2509520"/>
                    <a:pt x="0" y="2453386"/>
                    <a:pt x="0" y="2384171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Freeform 9"/>
            <p:cNvSpPr/>
            <p:nvPr/>
          </p:nvSpPr>
          <p:spPr>
            <a:xfrm>
              <a:off x="1419840" y="1678680"/>
              <a:ext cx="5037120" cy="1890720"/>
            </a:xfrm>
            <a:custGeom>
              <a:avLst/>
              <a:gdLst>
                <a:gd name="textAreaLeft" fmla="*/ 0 w 5037120"/>
                <a:gd name="textAreaRight" fmla="*/ 5038200 w 5037120"/>
                <a:gd name="textAreaTop" fmla="*/ 0 h 1890720"/>
                <a:gd name="textAreaBottom" fmla="*/ 1891800 h 1890720"/>
              </a:gdLst>
              <a:ahLst/>
              <a:rect l="textAreaLeft" t="textAreaTop" r="textAreaRight" b="textAreaBottom"/>
              <a:pathLst>
                <a:path w="6717538" h="2522220">
                  <a:moveTo>
                    <a:pt x="0" y="131699"/>
                  </a:moveTo>
                  <a:cubicBezTo>
                    <a:pt x="0" y="58928"/>
                    <a:pt x="59182" y="0"/>
                    <a:pt x="132080" y="0"/>
                  </a:cubicBezTo>
                  <a:lnTo>
                    <a:pt x="6585458" y="0"/>
                  </a:lnTo>
                  <a:lnTo>
                    <a:pt x="6585458" y="6350"/>
                  </a:lnTo>
                  <a:lnTo>
                    <a:pt x="6585458" y="0"/>
                  </a:lnTo>
                  <a:cubicBezTo>
                    <a:pt x="6658356" y="0"/>
                    <a:pt x="6717538" y="58928"/>
                    <a:pt x="6717538" y="131699"/>
                  </a:cubicBezTo>
                  <a:lnTo>
                    <a:pt x="6711188" y="131699"/>
                  </a:lnTo>
                  <a:lnTo>
                    <a:pt x="6717538" y="131699"/>
                  </a:lnTo>
                  <a:lnTo>
                    <a:pt x="6717538" y="2390521"/>
                  </a:lnTo>
                  <a:lnTo>
                    <a:pt x="6711188" y="2390521"/>
                  </a:lnTo>
                  <a:lnTo>
                    <a:pt x="6717538" y="2390521"/>
                  </a:lnTo>
                  <a:cubicBezTo>
                    <a:pt x="6717538" y="2463292"/>
                    <a:pt x="6658356" y="2522220"/>
                    <a:pt x="6585458" y="2522220"/>
                  </a:cubicBezTo>
                  <a:lnTo>
                    <a:pt x="6585458" y="2515870"/>
                  </a:lnTo>
                  <a:lnTo>
                    <a:pt x="6585458" y="2522220"/>
                  </a:lnTo>
                  <a:lnTo>
                    <a:pt x="132080" y="2522220"/>
                  </a:lnTo>
                  <a:lnTo>
                    <a:pt x="132080" y="2515870"/>
                  </a:lnTo>
                  <a:lnTo>
                    <a:pt x="132080" y="2522220"/>
                  </a:lnTo>
                  <a:cubicBezTo>
                    <a:pt x="59182" y="2522220"/>
                    <a:pt x="0" y="2463292"/>
                    <a:pt x="0" y="2390521"/>
                  </a:cubicBezTo>
                  <a:lnTo>
                    <a:pt x="0" y="131699"/>
                  </a:lnTo>
                  <a:lnTo>
                    <a:pt x="6350" y="131699"/>
                  </a:lnTo>
                  <a:lnTo>
                    <a:pt x="0" y="131699"/>
                  </a:lnTo>
                  <a:moveTo>
                    <a:pt x="12700" y="131699"/>
                  </a:moveTo>
                  <a:lnTo>
                    <a:pt x="12700" y="2390521"/>
                  </a:lnTo>
                  <a:lnTo>
                    <a:pt x="6350" y="2390521"/>
                  </a:lnTo>
                  <a:lnTo>
                    <a:pt x="12700" y="2390521"/>
                  </a:lnTo>
                  <a:cubicBezTo>
                    <a:pt x="12700" y="2456180"/>
                    <a:pt x="66167" y="2509520"/>
                    <a:pt x="132080" y="2509520"/>
                  </a:cubicBezTo>
                  <a:lnTo>
                    <a:pt x="6585458" y="2509520"/>
                  </a:lnTo>
                  <a:cubicBezTo>
                    <a:pt x="6651371" y="2509520"/>
                    <a:pt x="6704838" y="2456307"/>
                    <a:pt x="6704838" y="2390521"/>
                  </a:cubicBezTo>
                  <a:lnTo>
                    <a:pt x="6704838" y="131699"/>
                  </a:lnTo>
                  <a:cubicBezTo>
                    <a:pt x="6704838" y="66040"/>
                    <a:pt x="6651371" y="12700"/>
                    <a:pt x="6585458" y="12700"/>
                  </a:cubicBezTo>
                  <a:lnTo>
                    <a:pt x="132080" y="12700"/>
                  </a:lnTo>
                  <a:lnTo>
                    <a:pt x="132080" y="6350"/>
                  </a:lnTo>
                  <a:lnTo>
                    <a:pt x="132080" y="12700"/>
                  </a:lnTo>
                  <a:cubicBezTo>
                    <a:pt x="66167" y="12700"/>
                    <a:pt x="12700" y="65913"/>
                    <a:pt x="12700" y="13169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4" name="TextBox 10"/>
          <p:cNvSpPr/>
          <p:nvPr/>
        </p:nvSpPr>
        <p:spPr>
          <a:xfrm>
            <a:off x="1657800" y="1888200"/>
            <a:ext cx="279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50"/>
              </a:lnSpc>
            </a:pPr>
            <a:r>
              <a:rPr b="0" lang="en-US" sz="2190" spc="-1" strike="noStrike">
                <a:solidFill>
                  <a:srgbClr val="2c3249"/>
                </a:solidFill>
                <a:latin typeface="arial"/>
                <a:ea typeface="arial"/>
              </a:rPr>
              <a:t>Real-Time KPIs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1657800" y="2343600"/>
            <a:ext cx="456120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00"/>
              </a:lnSpc>
            </a:pPr>
            <a:r>
              <a:rPr b="0" lang="en-US" sz="1750" spc="-1" strike="noStrike">
                <a:solidFill>
                  <a:srgbClr val="2c3249"/>
                </a:solidFill>
                <a:latin typeface="Martel Sans"/>
                <a:ea typeface="Martel Sans"/>
              </a:rPr>
              <a:t>Revenue, orders per second, active users, and events per second displayed with WebSocket updates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6" name="Group 12"/>
          <p:cNvGrpSpPr/>
          <p:nvPr/>
        </p:nvGrpSpPr>
        <p:grpSpPr>
          <a:xfrm>
            <a:off x="6624720" y="1678680"/>
            <a:ext cx="5037120" cy="1890720"/>
            <a:chOff x="6624720" y="1678680"/>
            <a:chExt cx="5037120" cy="1890720"/>
          </a:xfrm>
        </p:grpSpPr>
        <p:sp>
          <p:nvSpPr>
            <p:cNvPr id="267" name="Freeform 13"/>
            <p:cNvSpPr/>
            <p:nvPr/>
          </p:nvSpPr>
          <p:spPr>
            <a:xfrm>
              <a:off x="6629400" y="1683720"/>
              <a:ext cx="5027400" cy="1881000"/>
            </a:xfrm>
            <a:custGeom>
              <a:avLst/>
              <a:gdLst>
                <a:gd name="textAreaLeft" fmla="*/ 0 w 5027400"/>
                <a:gd name="textAreaRight" fmla="*/ 5028480 w 5027400"/>
                <a:gd name="textAreaTop" fmla="*/ 0 h 1881000"/>
                <a:gd name="textAreaBottom" fmla="*/ 1882080 h 1881000"/>
              </a:gdLst>
              <a:ahLst/>
              <a:rect l="textAreaLeft" t="textAreaTop" r="textAreaRight" b="textAreaBottom"/>
              <a:pathLst>
                <a:path w="6704838" h="2509520">
                  <a:moveTo>
                    <a:pt x="0" y="125349"/>
                  </a:moveTo>
                  <a:cubicBezTo>
                    <a:pt x="0" y="56134"/>
                    <a:pt x="56261" y="0"/>
                    <a:pt x="125730" y="0"/>
                  </a:cubicBezTo>
                  <a:lnTo>
                    <a:pt x="6579108" y="0"/>
                  </a:lnTo>
                  <a:cubicBezTo>
                    <a:pt x="6648576" y="0"/>
                    <a:pt x="6704838" y="56134"/>
                    <a:pt x="6704838" y="125349"/>
                  </a:cubicBezTo>
                  <a:lnTo>
                    <a:pt x="6704838" y="2384171"/>
                  </a:lnTo>
                  <a:cubicBezTo>
                    <a:pt x="6704838" y="2453386"/>
                    <a:pt x="6648576" y="2509520"/>
                    <a:pt x="6579108" y="2509520"/>
                  </a:cubicBezTo>
                  <a:lnTo>
                    <a:pt x="125730" y="2509520"/>
                  </a:lnTo>
                  <a:cubicBezTo>
                    <a:pt x="56261" y="2509520"/>
                    <a:pt x="0" y="2453386"/>
                    <a:pt x="0" y="2384171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Freeform 14"/>
            <p:cNvSpPr/>
            <p:nvPr/>
          </p:nvSpPr>
          <p:spPr>
            <a:xfrm>
              <a:off x="6624720" y="1678680"/>
              <a:ext cx="5037120" cy="1890720"/>
            </a:xfrm>
            <a:custGeom>
              <a:avLst/>
              <a:gdLst>
                <a:gd name="textAreaLeft" fmla="*/ 0 w 5037120"/>
                <a:gd name="textAreaRight" fmla="*/ 5038200 w 5037120"/>
                <a:gd name="textAreaTop" fmla="*/ 0 h 1890720"/>
                <a:gd name="textAreaBottom" fmla="*/ 1891800 h 1890720"/>
              </a:gdLst>
              <a:ahLst/>
              <a:rect l="textAreaLeft" t="textAreaTop" r="textAreaRight" b="textAreaBottom"/>
              <a:pathLst>
                <a:path w="6717538" h="2522220">
                  <a:moveTo>
                    <a:pt x="0" y="131699"/>
                  </a:moveTo>
                  <a:cubicBezTo>
                    <a:pt x="0" y="58928"/>
                    <a:pt x="59182" y="0"/>
                    <a:pt x="132080" y="0"/>
                  </a:cubicBezTo>
                  <a:lnTo>
                    <a:pt x="6585458" y="0"/>
                  </a:lnTo>
                  <a:lnTo>
                    <a:pt x="6585458" y="6350"/>
                  </a:lnTo>
                  <a:lnTo>
                    <a:pt x="6585458" y="0"/>
                  </a:lnTo>
                  <a:cubicBezTo>
                    <a:pt x="6658356" y="0"/>
                    <a:pt x="6717538" y="58928"/>
                    <a:pt x="6717538" y="131699"/>
                  </a:cubicBezTo>
                  <a:lnTo>
                    <a:pt x="6711188" y="131699"/>
                  </a:lnTo>
                  <a:lnTo>
                    <a:pt x="6717538" y="131699"/>
                  </a:lnTo>
                  <a:lnTo>
                    <a:pt x="6717538" y="2390521"/>
                  </a:lnTo>
                  <a:lnTo>
                    <a:pt x="6711188" y="2390521"/>
                  </a:lnTo>
                  <a:lnTo>
                    <a:pt x="6717538" y="2390521"/>
                  </a:lnTo>
                  <a:cubicBezTo>
                    <a:pt x="6717538" y="2463292"/>
                    <a:pt x="6658356" y="2522220"/>
                    <a:pt x="6585458" y="2522220"/>
                  </a:cubicBezTo>
                  <a:lnTo>
                    <a:pt x="6585458" y="2515870"/>
                  </a:lnTo>
                  <a:lnTo>
                    <a:pt x="6585458" y="2522220"/>
                  </a:lnTo>
                  <a:lnTo>
                    <a:pt x="132080" y="2522220"/>
                  </a:lnTo>
                  <a:lnTo>
                    <a:pt x="132080" y="2515870"/>
                  </a:lnTo>
                  <a:lnTo>
                    <a:pt x="132080" y="2522220"/>
                  </a:lnTo>
                  <a:cubicBezTo>
                    <a:pt x="59182" y="2522220"/>
                    <a:pt x="0" y="2463292"/>
                    <a:pt x="0" y="2390521"/>
                  </a:cubicBezTo>
                  <a:lnTo>
                    <a:pt x="0" y="131699"/>
                  </a:lnTo>
                  <a:lnTo>
                    <a:pt x="6350" y="131699"/>
                  </a:lnTo>
                  <a:lnTo>
                    <a:pt x="0" y="131699"/>
                  </a:lnTo>
                  <a:moveTo>
                    <a:pt x="12700" y="131699"/>
                  </a:moveTo>
                  <a:lnTo>
                    <a:pt x="12700" y="2390521"/>
                  </a:lnTo>
                  <a:lnTo>
                    <a:pt x="6350" y="2390521"/>
                  </a:lnTo>
                  <a:lnTo>
                    <a:pt x="12700" y="2390521"/>
                  </a:lnTo>
                  <a:cubicBezTo>
                    <a:pt x="12700" y="2456180"/>
                    <a:pt x="66167" y="2509520"/>
                    <a:pt x="132080" y="2509520"/>
                  </a:cubicBezTo>
                  <a:lnTo>
                    <a:pt x="6585458" y="2509520"/>
                  </a:lnTo>
                  <a:cubicBezTo>
                    <a:pt x="6651371" y="2509520"/>
                    <a:pt x="6704838" y="2456307"/>
                    <a:pt x="6704838" y="2390521"/>
                  </a:cubicBezTo>
                  <a:lnTo>
                    <a:pt x="6704838" y="131699"/>
                  </a:lnTo>
                  <a:cubicBezTo>
                    <a:pt x="6704838" y="66040"/>
                    <a:pt x="6651371" y="12700"/>
                    <a:pt x="6585458" y="12700"/>
                  </a:cubicBezTo>
                  <a:lnTo>
                    <a:pt x="132080" y="12700"/>
                  </a:lnTo>
                  <a:lnTo>
                    <a:pt x="132080" y="6350"/>
                  </a:lnTo>
                  <a:lnTo>
                    <a:pt x="132080" y="12700"/>
                  </a:lnTo>
                  <a:cubicBezTo>
                    <a:pt x="66167" y="12700"/>
                    <a:pt x="12700" y="65913"/>
                    <a:pt x="12700" y="13169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9" name="TextBox 15"/>
          <p:cNvSpPr/>
          <p:nvPr/>
        </p:nvSpPr>
        <p:spPr>
          <a:xfrm>
            <a:off x="6862680" y="1888200"/>
            <a:ext cx="279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50"/>
              </a:lnSpc>
            </a:pPr>
            <a:r>
              <a:rPr b="0" lang="en-US" sz="2190" spc="-1" strike="noStrike">
                <a:solidFill>
                  <a:srgbClr val="2c3249"/>
                </a:solidFill>
                <a:latin typeface="arial"/>
                <a:ea typeface="arial"/>
              </a:rPr>
              <a:t>Revenue Trends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16"/>
          <p:cNvSpPr/>
          <p:nvPr/>
        </p:nvSpPr>
        <p:spPr>
          <a:xfrm>
            <a:off x="6862680" y="2343600"/>
            <a:ext cx="456120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00"/>
              </a:lnSpc>
            </a:pPr>
            <a:r>
              <a:rPr b="0" lang="en-US" sz="1750" spc="-1" strike="noStrike">
                <a:solidFill>
                  <a:srgbClr val="2c3249"/>
                </a:solidFill>
                <a:latin typeface="Martel Sans"/>
                <a:ea typeface="Martel Sans"/>
              </a:rPr>
              <a:t>Live charts showing revenue patterns with historical comparison and anomaly detection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1" name="Group 17"/>
          <p:cNvGrpSpPr/>
          <p:nvPr/>
        </p:nvGrpSpPr>
        <p:grpSpPr>
          <a:xfrm>
            <a:off x="11829960" y="1678680"/>
            <a:ext cx="5037120" cy="1890720"/>
            <a:chOff x="11829960" y="1678680"/>
            <a:chExt cx="5037120" cy="1890720"/>
          </a:xfrm>
        </p:grpSpPr>
        <p:sp>
          <p:nvSpPr>
            <p:cNvPr id="272" name="Freeform 18"/>
            <p:cNvSpPr/>
            <p:nvPr/>
          </p:nvSpPr>
          <p:spPr>
            <a:xfrm>
              <a:off x="11834640" y="1683720"/>
              <a:ext cx="5027760" cy="1881000"/>
            </a:xfrm>
            <a:custGeom>
              <a:avLst/>
              <a:gdLst>
                <a:gd name="textAreaLeft" fmla="*/ 0 w 5027760"/>
                <a:gd name="textAreaRight" fmla="*/ 5028840 w 5027760"/>
                <a:gd name="textAreaTop" fmla="*/ 0 h 1881000"/>
                <a:gd name="textAreaBottom" fmla="*/ 1882080 h 1881000"/>
              </a:gdLst>
              <a:ahLst/>
              <a:rect l="textAreaLeft" t="textAreaTop" r="textAreaRight" b="textAreaBottom"/>
              <a:pathLst>
                <a:path w="6705092" h="2509520">
                  <a:moveTo>
                    <a:pt x="0" y="125349"/>
                  </a:moveTo>
                  <a:cubicBezTo>
                    <a:pt x="0" y="56134"/>
                    <a:pt x="56261" y="0"/>
                    <a:pt x="125730" y="0"/>
                  </a:cubicBezTo>
                  <a:lnTo>
                    <a:pt x="6579362" y="0"/>
                  </a:lnTo>
                  <a:cubicBezTo>
                    <a:pt x="6648831" y="0"/>
                    <a:pt x="6705092" y="56134"/>
                    <a:pt x="6705092" y="125349"/>
                  </a:cubicBezTo>
                  <a:lnTo>
                    <a:pt x="6705092" y="2384171"/>
                  </a:lnTo>
                  <a:cubicBezTo>
                    <a:pt x="6705092" y="2453386"/>
                    <a:pt x="6648831" y="2509520"/>
                    <a:pt x="6579362" y="2509520"/>
                  </a:cubicBezTo>
                  <a:lnTo>
                    <a:pt x="125730" y="2509520"/>
                  </a:lnTo>
                  <a:cubicBezTo>
                    <a:pt x="56261" y="2509520"/>
                    <a:pt x="0" y="2453386"/>
                    <a:pt x="0" y="2384171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" name="Freeform 19"/>
            <p:cNvSpPr/>
            <p:nvPr/>
          </p:nvSpPr>
          <p:spPr>
            <a:xfrm>
              <a:off x="11829960" y="1678680"/>
              <a:ext cx="5037120" cy="1890720"/>
            </a:xfrm>
            <a:custGeom>
              <a:avLst/>
              <a:gdLst>
                <a:gd name="textAreaLeft" fmla="*/ 0 w 5037120"/>
                <a:gd name="textAreaRight" fmla="*/ 5038200 w 5037120"/>
                <a:gd name="textAreaTop" fmla="*/ 0 h 1890720"/>
                <a:gd name="textAreaBottom" fmla="*/ 1891800 h 1890720"/>
              </a:gdLst>
              <a:ahLst/>
              <a:rect l="textAreaLeft" t="textAreaTop" r="textAreaRight" b="textAreaBottom"/>
              <a:pathLst>
                <a:path w="6717792" h="2522220">
                  <a:moveTo>
                    <a:pt x="0" y="131699"/>
                  </a:moveTo>
                  <a:cubicBezTo>
                    <a:pt x="0" y="58928"/>
                    <a:pt x="59182" y="0"/>
                    <a:pt x="132080" y="0"/>
                  </a:cubicBezTo>
                  <a:lnTo>
                    <a:pt x="6585712" y="0"/>
                  </a:lnTo>
                  <a:lnTo>
                    <a:pt x="6585712" y="6350"/>
                  </a:lnTo>
                  <a:lnTo>
                    <a:pt x="6585712" y="0"/>
                  </a:lnTo>
                  <a:cubicBezTo>
                    <a:pt x="6658610" y="0"/>
                    <a:pt x="6717792" y="58928"/>
                    <a:pt x="6717792" y="131699"/>
                  </a:cubicBezTo>
                  <a:lnTo>
                    <a:pt x="6711442" y="131699"/>
                  </a:lnTo>
                  <a:lnTo>
                    <a:pt x="6717792" y="131699"/>
                  </a:lnTo>
                  <a:lnTo>
                    <a:pt x="6717792" y="2390521"/>
                  </a:lnTo>
                  <a:lnTo>
                    <a:pt x="6711442" y="2390521"/>
                  </a:lnTo>
                  <a:lnTo>
                    <a:pt x="6717792" y="2390521"/>
                  </a:lnTo>
                  <a:cubicBezTo>
                    <a:pt x="6717792" y="2463292"/>
                    <a:pt x="6658610" y="2522220"/>
                    <a:pt x="6585712" y="2522220"/>
                  </a:cubicBezTo>
                  <a:lnTo>
                    <a:pt x="6585712" y="2515870"/>
                  </a:lnTo>
                  <a:lnTo>
                    <a:pt x="6585712" y="2522220"/>
                  </a:lnTo>
                  <a:lnTo>
                    <a:pt x="132080" y="2522220"/>
                  </a:lnTo>
                  <a:lnTo>
                    <a:pt x="132080" y="2515870"/>
                  </a:lnTo>
                  <a:lnTo>
                    <a:pt x="132080" y="2522220"/>
                  </a:lnTo>
                  <a:cubicBezTo>
                    <a:pt x="59182" y="2522220"/>
                    <a:pt x="0" y="2463292"/>
                    <a:pt x="0" y="2390521"/>
                  </a:cubicBezTo>
                  <a:lnTo>
                    <a:pt x="0" y="131699"/>
                  </a:lnTo>
                  <a:lnTo>
                    <a:pt x="6350" y="131699"/>
                  </a:lnTo>
                  <a:lnTo>
                    <a:pt x="0" y="131699"/>
                  </a:lnTo>
                  <a:moveTo>
                    <a:pt x="12700" y="131699"/>
                  </a:moveTo>
                  <a:lnTo>
                    <a:pt x="12700" y="2390521"/>
                  </a:lnTo>
                  <a:lnTo>
                    <a:pt x="6350" y="2390521"/>
                  </a:lnTo>
                  <a:lnTo>
                    <a:pt x="12700" y="2390521"/>
                  </a:lnTo>
                  <a:cubicBezTo>
                    <a:pt x="12700" y="2456180"/>
                    <a:pt x="66167" y="2509520"/>
                    <a:pt x="132080" y="2509520"/>
                  </a:cubicBezTo>
                  <a:lnTo>
                    <a:pt x="6585712" y="2509520"/>
                  </a:lnTo>
                  <a:cubicBezTo>
                    <a:pt x="6651625" y="2509520"/>
                    <a:pt x="6705092" y="2456307"/>
                    <a:pt x="6705092" y="2390521"/>
                  </a:cubicBezTo>
                  <a:lnTo>
                    <a:pt x="6705092" y="131699"/>
                  </a:lnTo>
                  <a:cubicBezTo>
                    <a:pt x="6705092" y="66040"/>
                    <a:pt x="6651625" y="12700"/>
                    <a:pt x="6585712" y="12700"/>
                  </a:cubicBezTo>
                  <a:lnTo>
                    <a:pt x="132080" y="12700"/>
                  </a:lnTo>
                  <a:lnTo>
                    <a:pt x="132080" y="6350"/>
                  </a:lnTo>
                  <a:lnTo>
                    <a:pt x="132080" y="12700"/>
                  </a:lnTo>
                  <a:cubicBezTo>
                    <a:pt x="66167" y="12700"/>
                    <a:pt x="12700" y="65913"/>
                    <a:pt x="12700" y="13169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4" name="TextBox 20"/>
          <p:cNvSpPr/>
          <p:nvPr/>
        </p:nvSpPr>
        <p:spPr>
          <a:xfrm>
            <a:off x="12067920" y="1888200"/>
            <a:ext cx="2795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50"/>
              </a:lnSpc>
            </a:pPr>
            <a:r>
              <a:rPr b="0" lang="en-US" sz="2190" spc="-1" strike="noStrike">
                <a:solidFill>
                  <a:srgbClr val="2c3249"/>
                </a:solidFill>
                <a:latin typeface="arial"/>
                <a:ea typeface="arial"/>
              </a:rPr>
              <a:t>Top Analytics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21"/>
          <p:cNvSpPr/>
          <p:nvPr/>
        </p:nvSpPr>
        <p:spPr>
          <a:xfrm>
            <a:off x="12067920" y="2343600"/>
            <a:ext cx="45612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00"/>
              </a:lnSpc>
            </a:pPr>
            <a:r>
              <a:rPr b="0" lang="en-US" sz="1750" spc="-1" strike="noStrike">
                <a:solidFill>
                  <a:srgbClr val="2c3249"/>
                </a:solidFill>
                <a:latin typeface="Martel Sans"/>
                <a:ea typeface="Martel Sans"/>
              </a:rPr>
              <a:t>Categories and brands performance metrics with ranking and comparison views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22"/>
          <p:cNvSpPr/>
          <p:nvPr/>
        </p:nvSpPr>
        <p:spPr>
          <a:xfrm>
            <a:off x="1424520" y="5742720"/>
            <a:ext cx="343512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50"/>
              </a:lnSpc>
            </a:pPr>
            <a:r>
              <a:rPr b="0" lang="en-US" sz="2190" spc="-1" strike="noStrike">
                <a:solidFill>
                  <a:srgbClr val="272d45"/>
                </a:solidFill>
                <a:latin typeface="arial"/>
                <a:ea typeface="arial"/>
              </a:rPr>
              <a:t>System Health Monitoring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23"/>
          <p:cNvSpPr/>
          <p:nvPr/>
        </p:nvSpPr>
        <p:spPr>
          <a:xfrm>
            <a:off x="1424520" y="6268680"/>
            <a:ext cx="504756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263880" indent="-132120" defTabSz="914400">
              <a:lnSpc>
                <a:spcPts val="2500"/>
              </a:lnSpc>
              <a:buClr>
                <a:srgbClr val="2c3249"/>
              </a:buClr>
              <a:buFont typeface="Arial"/>
              <a:buChar char="•"/>
            </a:pPr>
            <a:r>
              <a:rPr b="0" lang="en-US" sz="1750" spc="-1" strike="noStrike">
                <a:solidFill>
                  <a:srgbClr val="2c3249"/>
                </a:solidFill>
                <a:latin typeface="Martel Sans"/>
                <a:ea typeface="Martel Sans"/>
              </a:rPr>
              <a:t>Kafka lag tracking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lvl="1" marL="263880" indent="-132120" defTabSz="914400">
              <a:lnSpc>
                <a:spcPts val="2500"/>
              </a:lnSpc>
              <a:buClr>
                <a:srgbClr val="2c3249"/>
              </a:buClr>
              <a:buFont typeface="Arial"/>
              <a:buChar char="•"/>
            </a:pPr>
            <a:r>
              <a:rPr b="0" lang="en-US" sz="1750" spc="-1" strike="noStrike">
                <a:solidFill>
                  <a:srgbClr val="2c3249"/>
                </a:solidFill>
                <a:latin typeface="Martel Sans"/>
                <a:ea typeface="Martel Sans"/>
              </a:rPr>
              <a:t>Spark batch processing time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lvl="1" marL="263880" indent="-132120" defTabSz="914400">
              <a:lnSpc>
                <a:spcPts val="2500"/>
              </a:lnSpc>
              <a:buClr>
                <a:srgbClr val="2c3249"/>
              </a:buClr>
              <a:buFont typeface="Arial"/>
              <a:buChar char="•"/>
            </a:pPr>
            <a:r>
              <a:rPr b="0" lang="en-US" sz="1750" spc="-1" strike="noStrike">
                <a:solidFill>
                  <a:srgbClr val="2c3249"/>
                </a:solidFill>
                <a:latin typeface="Martel Sans"/>
                <a:ea typeface="Martel Sans"/>
              </a:rPr>
              <a:t>Resource utilization metrics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lvl="1" marL="263880" indent="-132120" defTabSz="914400">
              <a:lnSpc>
                <a:spcPts val="2500"/>
              </a:lnSpc>
              <a:buClr>
                <a:srgbClr val="2c3249"/>
              </a:buClr>
              <a:buFont typeface="Arial"/>
              <a:buChar char="•"/>
            </a:pPr>
            <a:r>
              <a:rPr b="0" lang="en-US" sz="1750" spc="-1" strike="noStrike">
                <a:solidFill>
                  <a:srgbClr val="2c3249"/>
                </a:solidFill>
                <a:latin typeface="Martel Sans"/>
                <a:ea typeface="Martel Sans"/>
              </a:rPr>
              <a:t>Automatic alert system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8" name="Group 24"/>
          <p:cNvGrpSpPr/>
          <p:nvPr/>
        </p:nvGrpSpPr>
        <p:grpSpPr>
          <a:xfrm>
            <a:off x="7028640" y="3962520"/>
            <a:ext cx="9843120" cy="5493240"/>
            <a:chOff x="7028640" y="3962520"/>
            <a:chExt cx="9843120" cy="5493240"/>
          </a:xfrm>
        </p:grpSpPr>
        <p:sp>
          <p:nvSpPr>
            <p:cNvPr id="279" name="Freeform 25"/>
            <p:cNvSpPr/>
            <p:nvPr/>
          </p:nvSpPr>
          <p:spPr>
            <a:xfrm>
              <a:off x="7028640" y="3962520"/>
              <a:ext cx="9843120" cy="5493240"/>
            </a:xfrm>
            <a:custGeom>
              <a:avLst/>
              <a:gdLst>
                <a:gd name="textAreaLeft" fmla="*/ 0 w 9843120"/>
                <a:gd name="textAreaRight" fmla="*/ 9844200 w 9843120"/>
                <a:gd name="textAreaTop" fmla="*/ 0 h 5493240"/>
                <a:gd name="textAreaBottom" fmla="*/ 5494320 h 5493240"/>
              </a:gdLst>
              <a:ahLst/>
              <a:rect l="textAreaLeft" t="textAreaTop" r="textAreaRight" b="textAreaBottom"/>
              <a:pathLst>
                <a:path w="13125704" h="7325868">
                  <a:moveTo>
                    <a:pt x="0" y="0"/>
                  </a:moveTo>
                  <a:lnTo>
                    <a:pt x="13125704" y="0"/>
                  </a:lnTo>
                  <a:lnTo>
                    <a:pt x="13125704" y="7325868"/>
                  </a:lnTo>
                  <a:lnTo>
                    <a:pt x="0" y="732586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281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283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" name="Group 6"/>
          <p:cNvGrpSpPr/>
          <p:nvPr/>
        </p:nvGrpSpPr>
        <p:grpSpPr>
          <a:xfrm>
            <a:off x="0" y="0"/>
            <a:ext cx="6856920" cy="10285920"/>
            <a:chOff x="0" y="0"/>
            <a:chExt cx="6856920" cy="10285920"/>
          </a:xfrm>
        </p:grpSpPr>
        <p:sp>
          <p:nvSpPr>
            <p:cNvPr id="285" name="Freeform 7"/>
            <p:cNvSpPr/>
            <p:nvPr/>
          </p:nvSpPr>
          <p:spPr>
            <a:xfrm>
              <a:off x="0" y="0"/>
              <a:ext cx="6856920" cy="10285920"/>
            </a:xfrm>
            <a:custGeom>
              <a:avLst/>
              <a:gdLst>
                <a:gd name="textAreaLeft" fmla="*/ 0 w 6856920"/>
                <a:gd name="textAreaRight" fmla="*/ 6858000 w 685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6" name="TextBox 8"/>
          <p:cNvSpPr/>
          <p:nvPr/>
        </p:nvSpPr>
        <p:spPr>
          <a:xfrm>
            <a:off x="7442640" y="1386360"/>
            <a:ext cx="443664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62"/>
              </a:lnSpc>
            </a:pPr>
            <a:r>
              <a:rPr b="0" lang="en-US" sz="3250" spc="-1" strike="noStrike">
                <a:solidFill>
                  <a:srgbClr val="272d45"/>
                </a:solidFill>
                <a:latin typeface="arial"/>
                <a:ea typeface="arial"/>
              </a:rPr>
              <a:t>Infrastructure &amp; DevOps</a:t>
            </a:r>
            <a:endParaRPr b="0" lang="en-IN" sz="32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7" name="Group 9"/>
          <p:cNvGrpSpPr/>
          <p:nvPr/>
        </p:nvGrpSpPr>
        <p:grpSpPr>
          <a:xfrm>
            <a:off x="7437960" y="2089080"/>
            <a:ext cx="10269360" cy="1492920"/>
            <a:chOff x="7437960" y="2089080"/>
            <a:chExt cx="10269360" cy="1492920"/>
          </a:xfrm>
        </p:grpSpPr>
        <p:sp>
          <p:nvSpPr>
            <p:cNvPr id="288" name="Freeform 10"/>
            <p:cNvSpPr/>
            <p:nvPr/>
          </p:nvSpPr>
          <p:spPr>
            <a:xfrm>
              <a:off x="7442640" y="2094120"/>
              <a:ext cx="10259640" cy="1483560"/>
            </a:xfrm>
            <a:custGeom>
              <a:avLst/>
              <a:gdLst>
                <a:gd name="textAreaLeft" fmla="*/ 0 w 10259640"/>
                <a:gd name="textAreaRight" fmla="*/ 10260720 w 10259640"/>
                <a:gd name="textAreaTop" fmla="*/ 0 h 1483560"/>
                <a:gd name="textAreaBottom" fmla="*/ 1484640 h 1483560"/>
              </a:gdLst>
              <a:ahLst/>
              <a:rect l="textAreaLeft" t="textAreaTop" r="textAreaRight" b="textAreaBottom"/>
              <a:pathLst>
                <a:path w="13681075" h="1979422">
                  <a:moveTo>
                    <a:pt x="0" y="93599"/>
                  </a:moveTo>
                  <a:cubicBezTo>
                    <a:pt x="0" y="41910"/>
                    <a:pt x="42164" y="0"/>
                    <a:pt x="94107" y="0"/>
                  </a:cubicBezTo>
                  <a:lnTo>
                    <a:pt x="13586968" y="0"/>
                  </a:lnTo>
                  <a:cubicBezTo>
                    <a:pt x="13638910" y="0"/>
                    <a:pt x="13681075" y="41910"/>
                    <a:pt x="13681075" y="93599"/>
                  </a:cubicBezTo>
                  <a:lnTo>
                    <a:pt x="13681075" y="1885823"/>
                  </a:lnTo>
                  <a:cubicBezTo>
                    <a:pt x="13681075" y="1937512"/>
                    <a:pt x="13638910" y="1979422"/>
                    <a:pt x="13586968" y="1979422"/>
                  </a:cubicBezTo>
                  <a:lnTo>
                    <a:pt x="94107" y="1979422"/>
                  </a:lnTo>
                  <a:cubicBezTo>
                    <a:pt x="42164" y="1979422"/>
                    <a:pt x="0" y="1937512"/>
                    <a:pt x="0" y="1885823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" name="Freeform 11"/>
            <p:cNvSpPr/>
            <p:nvPr/>
          </p:nvSpPr>
          <p:spPr>
            <a:xfrm>
              <a:off x="7437960" y="2089080"/>
              <a:ext cx="10269360" cy="1492920"/>
            </a:xfrm>
            <a:custGeom>
              <a:avLst/>
              <a:gdLst>
                <a:gd name="textAreaLeft" fmla="*/ 0 w 10269360"/>
                <a:gd name="textAreaRight" fmla="*/ 10270440 w 10269360"/>
                <a:gd name="textAreaTop" fmla="*/ 0 h 1492920"/>
                <a:gd name="textAreaBottom" fmla="*/ 1494000 h 1492920"/>
              </a:gdLst>
              <a:ahLst/>
              <a:rect l="textAreaLeft" t="textAreaTop" r="textAreaRight" b="textAreaBottom"/>
              <a:pathLst>
                <a:path w="13693775" h="1992122">
                  <a:moveTo>
                    <a:pt x="0" y="99949"/>
                  </a:moveTo>
                  <a:cubicBezTo>
                    <a:pt x="0" y="44704"/>
                    <a:pt x="44958" y="0"/>
                    <a:pt x="100457" y="0"/>
                  </a:cubicBezTo>
                  <a:lnTo>
                    <a:pt x="13593318" y="0"/>
                  </a:lnTo>
                  <a:lnTo>
                    <a:pt x="13593318" y="6350"/>
                  </a:lnTo>
                  <a:lnTo>
                    <a:pt x="13593318" y="0"/>
                  </a:lnTo>
                  <a:cubicBezTo>
                    <a:pt x="13648689" y="0"/>
                    <a:pt x="13693775" y="44704"/>
                    <a:pt x="13693775" y="99949"/>
                  </a:cubicBezTo>
                  <a:lnTo>
                    <a:pt x="13687425" y="99949"/>
                  </a:lnTo>
                  <a:lnTo>
                    <a:pt x="13693775" y="99949"/>
                  </a:lnTo>
                  <a:lnTo>
                    <a:pt x="13693775" y="1892173"/>
                  </a:lnTo>
                  <a:lnTo>
                    <a:pt x="13687425" y="1892173"/>
                  </a:lnTo>
                  <a:lnTo>
                    <a:pt x="13693775" y="1892173"/>
                  </a:lnTo>
                  <a:cubicBezTo>
                    <a:pt x="13693775" y="1947418"/>
                    <a:pt x="13648817" y="1992122"/>
                    <a:pt x="13593318" y="1992122"/>
                  </a:cubicBezTo>
                  <a:lnTo>
                    <a:pt x="13593318" y="1985772"/>
                  </a:lnTo>
                  <a:lnTo>
                    <a:pt x="13593318" y="1992122"/>
                  </a:lnTo>
                  <a:lnTo>
                    <a:pt x="100457" y="1992122"/>
                  </a:lnTo>
                  <a:lnTo>
                    <a:pt x="100457" y="1985772"/>
                  </a:lnTo>
                  <a:lnTo>
                    <a:pt x="100457" y="1992122"/>
                  </a:lnTo>
                  <a:cubicBezTo>
                    <a:pt x="45085" y="1992122"/>
                    <a:pt x="0" y="1947418"/>
                    <a:pt x="0" y="1892173"/>
                  </a:cubicBezTo>
                  <a:lnTo>
                    <a:pt x="0" y="99949"/>
                  </a:lnTo>
                  <a:lnTo>
                    <a:pt x="6350" y="99949"/>
                  </a:lnTo>
                  <a:lnTo>
                    <a:pt x="0" y="99949"/>
                  </a:lnTo>
                  <a:moveTo>
                    <a:pt x="12700" y="99949"/>
                  </a:moveTo>
                  <a:lnTo>
                    <a:pt x="12700" y="1892173"/>
                  </a:lnTo>
                  <a:lnTo>
                    <a:pt x="6350" y="1892173"/>
                  </a:lnTo>
                  <a:lnTo>
                    <a:pt x="12700" y="1892173"/>
                  </a:lnTo>
                  <a:cubicBezTo>
                    <a:pt x="12700" y="1940306"/>
                    <a:pt x="51943" y="1979422"/>
                    <a:pt x="100457" y="1979422"/>
                  </a:cubicBezTo>
                  <a:lnTo>
                    <a:pt x="13593318" y="1979422"/>
                  </a:lnTo>
                  <a:cubicBezTo>
                    <a:pt x="13641831" y="1979422"/>
                    <a:pt x="13681075" y="1940306"/>
                    <a:pt x="13681075" y="1892173"/>
                  </a:cubicBezTo>
                  <a:lnTo>
                    <a:pt x="13681075" y="99949"/>
                  </a:lnTo>
                  <a:cubicBezTo>
                    <a:pt x="13681075" y="51816"/>
                    <a:pt x="13641831" y="12700"/>
                    <a:pt x="13593318" y="12700"/>
                  </a:cubicBezTo>
                  <a:lnTo>
                    <a:pt x="100457" y="12700"/>
                  </a:lnTo>
                  <a:lnTo>
                    <a:pt x="100457" y="6350"/>
                  </a:lnTo>
                  <a:lnTo>
                    <a:pt x="100457" y="12700"/>
                  </a:lnTo>
                  <a:cubicBezTo>
                    <a:pt x="51943" y="12700"/>
                    <a:pt x="12700" y="51816"/>
                    <a:pt x="12700" y="9994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" name="Group 12"/>
          <p:cNvGrpSpPr/>
          <p:nvPr/>
        </p:nvGrpSpPr>
        <p:grpSpPr>
          <a:xfrm>
            <a:off x="7619040" y="2270520"/>
            <a:ext cx="500040" cy="500040"/>
            <a:chOff x="7619040" y="2270520"/>
            <a:chExt cx="500040" cy="500040"/>
          </a:xfrm>
        </p:grpSpPr>
        <p:sp>
          <p:nvSpPr>
            <p:cNvPr id="291" name="Freeform 13"/>
            <p:cNvSpPr/>
            <p:nvPr/>
          </p:nvSpPr>
          <p:spPr>
            <a:xfrm>
              <a:off x="7619040" y="2270520"/>
              <a:ext cx="500040" cy="500040"/>
            </a:xfrm>
            <a:custGeom>
              <a:avLst/>
              <a:gdLst>
                <a:gd name="textAreaLeft" fmla="*/ 0 w 500040"/>
                <a:gd name="textAreaRight" fmla="*/ 501120 w 500040"/>
                <a:gd name="textAreaTop" fmla="*/ 0 h 500040"/>
                <a:gd name="textAreaBottom" fmla="*/ 501120 h 500040"/>
              </a:gdLst>
              <a:ahLst/>
              <a:rect l="textAreaLeft" t="textAreaTop" r="textAreaRight" b="textAreaBottom"/>
              <a:pathLst>
                <a:path w="668020" h="668020">
                  <a:moveTo>
                    <a:pt x="0" y="334010"/>
                  </a:moveTo>
                  <a:cubicBezTo>
                    <a:pt x="0" y="149606"/>
                    <a:pt x="149606" y="0"/>
                    <a:pt x="334010" y="0"/>
                  </a:cubicBezTo>
                  <a:cubicBezTo>
                    <a:pt x="518414" y="0"/>
                    <a:pt x="668020" y="149606"/>
                    <a:pt x="668020" y="334010"/>
                  </a:cubicBezTo>
                  <a:cubicBezTo>
                    <a:pt x="668020" y="518414"/>
                    <a:pt x="518414" y="668020"/>
                    <a:pt x="334010" y="668020"/>
                  </a:cubicBezTo>
                  <a:cubicBezTo>
                    <a:pt x="149606" y="668020"/>
                    <a:pt x="0" y="518541"/>
                    <a:pt x="0" y="334010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92" name="Freeform 14"/>
          <p:cNvSpPr/>
          <p:nvPr/>
        </p:nvSpPr>
        <p:spPr>
          <a:xfrm>
            <a:off x="7756920" y="2408040"/>
            <a:ext cx="224280" cy="224280"/>
          </a:xfrm>
          <a:custGeom>
            <a:avLst/>
            <a:gdLst>
              <a:gd name="textAreaLeft" fmla="*/ 0 w 224280"/>
              <a:gd name="textAreaRight" fmla="*/ 225360 w 224280"/>
              <a:gd name="textAreaTop" fmla="*/ 0 h 224280"/>
              <a:gd name="textAreaBottom" fmla="*/ 225360 h 224280"/>
            </a:gdLst>
            <a:ahLst/>
            <a:rect l="textAreaLeft" t="textAreaTop" r="textAreaRight" b="textAreaBottom"/>
            <a:pathLst>
              <a:path w="225476" h="225476">
                <a:moveTo>
                  <a:pt x="0" y="0"/>
                </a:moveTo>
                <a:lnTo>
                  <a:pt x="225476" y="0"/>
                </a:lnTo>
                <a:lnTo>
                  <a:pt x="225476" y="225475"/>
                </a:lnTo>
                <a:lnTo>
                  <a:pt x="0" y="2254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15"/>
          <p:cNvSpPr/>
          <p:nvPr/>
        </p:nvSpPr>
        <p:spPr>
          <a:xfrm>
            <a:off x="7619040" y="2850840"/>
            <a:ext cx="2087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98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arial"/>
                <a:ea typeface="arial"/>
              </a:rPr>
              <a:t>Docker Compose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16"/>
          <p:cNvSpPr/>
          <p:nvPr/>
        </p:nvSpPr>
        <p:spPr>
          <a:xfrm>
            <a:off x="7619040" y="3180240"/>
            <a:ext cx="99068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24"/>
              </a:lnSpc>
            </a:pPr>
            <a:r>
              <a:rPr b="0" lang="en-US" sz="1310" spc="-1" strike="noStrike">
                <a:solidFill>
                  <a:srgbClr val="2c3249"/>
                </a:solidFill>
                <a:latin typeface="Martel Sans"/>
                <a:ea typeface="Martel Sans"/>
              </a:rPr>
              <a:t>Orchestration for MongoDB, Kafka, MinIO, and application services</a:t>
            </a:r>
            <a:endParaRPr b="0" lang="en-IN" sz="131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5" name="Group 17"/>
          <p:cNvGrpSpPr/>
          <p:nvPr/>
        </p:nvGrpSpPr>
        <p:grpSpPr>
          <a:xfrm>
            <a:off x="7437960" y="3672360"/>
            <a:ext cx="10269360" cy="1492920"/>
            <a:chOff x="7437960" y="3672360"/>
            <a:chExt cx="10269360" cy="1492920"/>
          </a:xfrm>
        </p:grpSpPr>
        <p:sp>
          <p:nvSpPr>
            <p:cNvPr id="296" name="Freeform 18"/>
            <p:cNvSpPr/>
            <p:nvPr/>
          </p:nvSpPr>
          <p:spPr>
            <a:xfrm>
              <a:off x="7442640" y="3677040"/>
              <a:ext cx="10259640" cy="1483560"/>
            </a:xfrm>
            <a:custGeom>
              <a:avLst/>
              <a:gdLst>
                <a:gd name="textAreaLeft" fmla="*/ 0 w 10259640"/>
                <a:gd name="textAreaRight" fmla="*/ 10260720 w 10259640"/>
                <a:gd name="textAreaTop" fmla="*/ 0 h 1483560"/>
                <a:gd name="textAreaBottom" fmla="*/ 1484640 h 1483560"/>
              </a:gdLst>
              <a:ahLst/>
              <a:rect l="textAreaLeft" t="textAreaTop" r="textAreaRight" b="textAreaBottom"/>
              <a:pathLst>
                <a:path w="13681075" h="1979422">
                  <a:moveTo>
                    <a:pt x="0" y="93599"/>
                  </a:moveTo>
                  <a:cubicBezTo>
                    <a:pt x="0" y="41910"/>
                    <a:pt x="42164" y="0"/>
                    <a:pt x="94107" y="0"/>
                  </a:cubicBezTo>
                  <a:lnTo>
                    <a:pt x="13586968" y="0"/>
                  </a:lnTo>
                  <a:cubicBezTo>
                    <a:pt x="13638910" y="0"/>
                    <a:pt x="13681075" y="41910"/>
                    <a:pt x="13681075" y="93599"/>
                  </a:cubicBezTo>
                  <a:lnTo>
                    <a:pt x="13681075" y="1885823"/>
                  </a:lnTo>
                  <a:cubicBezTo>
                    <a:pt x="13681075" y="1937512"/>
                    <a:pt x="13638910" y="1979422"/>
                    <a:pt x="13586968" y="1979422"/>
                  </a:cubicBezTo>
                  <a:lnTo>
                    <a:pt x="94107" y="1979422"/>
                  </a:lnTo>
                  <a:cubicBezTo>
                    <a:pt x="42164" y="1979422"/>
                    <a:pt x="0" y="1937512"/>
                    <a:pt x="0" y="1885823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" name="Freeform 19"/>
            <p:cNvSpPr/>
            <p:nvPr/>
          </p:nvSpPr>
          <p:spPr>
            <a:xfrm>
              <a:off x="7437960" y="3672360"/>
              <a:ext cx="10269360" cy="1492920"/>
            </a:xfrm>
            <a:custGeom>
              <a:avLst/>
              <a:gdLst>
                <a:gd name="textAreaLeft" fmla="*/ 0 w 10269360"/>
                <a:gd name="textAreaRight" fmla="*/ 10270440 w 10269360"/>
                <a:gd name="textAreaTop" fmla="*/ 0 h 1492920"/>
                <a:gd name="textAreaBottom" fmla="*/ 1494000 h 1492920"/>
              </a:gdLst>
              <a:ahLst/>
              <a:rect l="textAreaLeft" t="textAreaTop" r="textAreaRight" b="textAreaBottom"/>
              <a:pathLst>
                <a:path w="13693775" h="1992122">
                  <a:moveTo>
                    <a:pt x="0" y="99949"/>
                  </a:moveTo>
                  <a:cubicBezTo>
                    <a:pt x="0" y="44704"/>
                    <a:pt x="44958" y="0"/>
                    <a:pt x="100457" y="0"/>
                  </a:cubicBezTo>
                  <a:lnTo>
                    <a:pt x="13593318" y="0"/>
                  </a:lnTo>
                  <a:lnTo>
                    <a:pt x="13593318" y="6350"/>
                  </a:lnTo>
                  <a:lnTo>
                    <a:pt x="13593318" y="0"/>
                  </a:lnTo>
                  <a:cubicBezTo>
                    <a:pt x="13648689" y="0"/>
                    <a:pt x="13693775" y="44704"/>
                    <a:pt x="13693775" y="99949"/>
                  </a:cubicBezTo>
                  <a:lnTo>
                    <a:pt x="13687425" y="99949"/>
                  </a:lnTo>
                  <a:lnTo>
                    <a:pt x="13693775" y="99949"/>
                  </a:lnTo>
                  <a:lnTo>
                    <a:pt x="13693775" y="1892173"/>
                  </a:lnTo>
                  <a:lnTo>
                    <a:pt x="13687425" y="1892173"/>
                  </a:lnTo>
                  <a:lnTo>
                    <a:pt x="13693775" y="1892173"/>
                  </a:lnTo>
                  <a:cubicBezTo>
                    <a:pt x="13693775" y="1947418"/>
                    <a:pt x="13648817" y="1992122"/>
                    <a:pt x="13593318" y="1992122"/>
                  </a:cubicBezTo>
                  <a:lnTo>
                    <a:pt x="13593318" y="1985772"/>
                  </a:lnTo>
                  <a:lnTo>
                    <a:pt x="13593318" y="1992122"/>
                  </a:lnTo>
                  <a:lnTo>
                    <a:pt x="100457" y="1992122"/>
                  </a:lnTo>
                  <a:lnTo>
                    <a:pt x="100457" y="1985772"/>
                  </a:lnTo>
                  <a:lnTo>
                    <a:pt x="100457" y="1992122"/>
                  </a:lnTo>
                  <a:cubicBezTo>
                    <a:pt x="45085" y="1992122"/>
                    <a:pt x="0" y="1947418"/>
                    <a:pt x="0" y="1892173"/>
                  </a:cubicBezTo>
                  <a:lnTo>
                    <a:pt x="0" y="99949"/>
                  </a:lnTo>
                  <a:lnTo>
                    <a:pt x="6350" y="99949"/>
                  </a:lnTo>
                  <a:lnTo>
                    <a:pt x="0" y="99949"/>
                  </a:lnTo>
                  <a:moveTo>
                    <a:pt x="12700" y="99949"/>
                  </a:moveTo>
                  <a:lnTo>
                    <a:pt x="12700" y="1892173"/>
                  </a:lnTo>
                  <a:lnTo>
                    <a:pt x="6350" y="1892173"/>
                  </a:lnTo>
                  <a:lnTo>
                    <a:pt x="12700" y="1892173"/>
                  </a:lnTo>
                  <a:cubicBezTo>
                    <a:pt x="12700" y="1940306"/>
                    <a:pt x="51943" y="1979422"/>
                    <a:pt x="100457" y="1979422"/>
                  </a:cubicBezTo>
                  <a:lnTo>
                    <a:pt x="13593318" y="1979422"/>
                  </a:lnTo>
                  <a:cubicBezTo>
                    <a:pt x="13641831" y="1979422"/>
                    <a:pt x="13681075" y="1940306"/>
                    <a:pt x="13681075" y="1892173"/>
                  </a:cubicBezTo>
                  <a:lnTo>
                    <a:pt x="13681075" y="99949"/>
                  </a:lnTo>
                  <a:cubicBezTo>
                    <a:pt x="13681075" y="51816"/>
                    <a:pt x="13641831" y="12700"/>
                    <a:pt x="13593318" y="12700"/>
                  </a:cubicBezTo>
                  <a:lnTo>
                    <a:pt x="100457" y="12700"/>
                  </a:lnTo>
                  <a:lnTo>
                    <a:pt x="100457" y="6350"/>
                  </a:lnTo>
                  <a:lnTo>
                    <a:pt x="100457" y="12700"/>
                  </a:lnTo>
                  <a:cubicBezTo>
                    <a:pt x="51943" y="12700"/>
                    <a:pt x="12700" y="51816"/>
                    <a:pt x="12700" y="9994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" name="Group 20"/>
          <p:cNvGrpSpPr/>
          <p:nvPr/>
        </p:nvGrpSpPr>
        <p:grpSpPr>
          <a:xfrm>
            <a:off x="7619040" y="3853440"/>
            <a:ext cx="500040" cy="500040"/>
            <a:chOff x="7619040" y="3853440"/>
            <a:chExt cx="500040" cy="500040"/>
          </a:xfrm>
        </p:grpSpPr>
        <p:sp>
          <p:nvSpPr>
            <p:cNvPr id="299" name="Freeform 21"/>
            <p:cNvSpPr/>
            <p:nvPr/>
          </p:nvSpPr>
          <p:spPr>
            <a:xfrm>
              <a:off x="7619040" y="3853440"/>
              <a:ext cx="500040" cy="500040"/>
            </a:xfrm>
            <a:custGeom>
              <a:avLst/>
              <a:gdLst>
                <a:gd name="textAreaLeft" fmla="*/ 0 w 500040"/>
                <a:gd name="textAreaRight" fmla="*/ 501120 w 500040"/>
                <a:gd name="textAreaTop" fmla="*/ 0 h 500040"/>
                <a:gd name="textAreaBottom" fmla="*/ 501120 h 500040"/>
              </a:gdLst>
              <a:ahLst/>
              <a:rect l="textAreaLeft" t="textAreaTop" r="textAreaRight" b="textAreaBottom"/>
              <a:pathLst>
                <a:path w="668020" h="668020">
                  <a:moveTo>
                    <a:pt x="0" y="334010"/>
                  </a:moveTo>
                  <a:cubicBezTo>
                    <a:pt x="0" y="149606"/>
                    <a:pt x="149606" y="0"/>
                    <a:pt x="334010" y="0"/>
                  </a:cubicBezTo>
                  <a:cubicBezTo>
                    <a:pt x="518414" y="0"/>
                    <a:pt x="668020" y="149606"/>
                    <a:pt x="668020" y="334010"/>
                  </a:cubicBezTo>
                  <a:cubicBezTo>
                    <a:pt x="668020" y="518414"/>
                    <a:pt x="518414" y="668020"/>
                    <a:pt x="334010" y="668020"/>
                  </a:cubicBezTo>
                  <a:cubicBezTo>
                    <a:pt x="149606" y="668020"/>
                    <a:pt x="0" y="518541"/>
                    <a:pt x="0" y="334010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00" name="Freeform 22"/>
          <p:cNvSpPr/>
          <p:nvPr/>
        </p:nvSpPr>
        <p:spPr>
          <a:xfrm>
            <a:off x="7756920" y="3990960"/>
            <a:ext cx="224280" cy="224280"/>
          </a:xfrm>
          <a:custGeom>
            <a:avLst/>
            <a:gdLst>
              <a:gd name="textAreaLeft" fmla="*/ 0 w 224280"/>
              <a:gd name="textAreaRight" fmla="*/ 225360 w 224280"/>
              <a:gd name="textAreaTop" fmla="*/ 0 h 224280"/>
              <a:gd name="textAreaBottom" fmla="*/ 225360 h 224280"/>
            </a:gdLst>
            <a:ahLst/>
            <a:rect l="textAreaLeft" t="textAreaTop" r="textAreaRight" b="textAreaBottom"/>
            <a:pathLst>
              <a:path w="225476" h="225476">
                <a:moveTo>
                  <a:pt x="0" y="0"/>
                </a:moveTo>
                <a:lnTo>
                  <a:pt x="225476" y="0"/>
                </a:lnTo>
                <a:lnTo>
                  <a:pt x="225476" y="225476"/>
                </a:lnTo>
                <a:lnTo>
                  <a:pt x="0" y="2254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23"/>
          <p:cNvSpPr/>
          <p:nvPr/>
        </p:nvSpPr>
        <p:spPr>
          <a:xfrm>
            <a:off x="7619040" y="4433760"/>
            <a:ext cx="2087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98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arial"/>
                <a:ea typeface="arial"/>
              </a:rPr>
              <a:t>KRaft Mode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24"/>
          <p:cNvSpPr/>
          <p:nvPr/>
        </p:nvSpPr>
        <p:spPr>
          <a:xfrm>
            <a:off x="7619040" y="4763160"/>
            <a:ext cx="99068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24"/>
              </a:lnSpc>
            </a:pPr>
            <a:r>
              <a:rPr b="0" lang="en-US" sz="1310" spc="-1" strike="noStrike">
                <a:solidFill>
                  <a:srgbClr val="2c3249"/>
                </a:solidFill>
                <a:latin typeface="Martel Sans"/>
                <a:ea typeface="Martel Sans"/>
              </a:rPr>
              <a:t>Kafka cluster configuration with automatic topic creation</a:t>
            </a:r>
            <a:endParaRPr b="0" lang="en-IN" sz="131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3" name="Group 25"/>
          <p:cNvGrpSpPr/>
          <p:nvPr/>
        </p:nvGrpSpPr>
        <p:grpSpPr>
          <a:xfrm>
            <a:off x="7437960" y="5255280"/>
            <a:ext cx="10269360" cy="1492920"/>
            <a:chOff x="7437960" y="5255280"/>
            <a:chExt cx="10269360" cy="1492920"/>
          </a:xfrm>
        </p:grpSpPr>
        <p:sp>
          <p:nvSpPr>
            <p:cNvPr id="304" name="Freeform 26"/>
            <p:cNvSpPr/>
            <p:nvPr/>
          </p:nvSpPr>
          <p:spPr>
            <a:xfrm>
              <a:off x="7442640" y="5259960"/>
              <a:ext cx="10259640" cy="1483560"/>
            </a:xfrm>
            <a:custGeom>
              <a:avLst/>
              <a:gdLst>
                <a:gd name="textAreaLeft" fmla="*/ 0 w 10259640"/>
                <a:gd name="textAreaRight" fmla="*/ 10260720 w 10259640"/>
                <a:gd name="textAreaTop" fmla="*/ 0 h 1483560"/>
                <a:gd name="textAreaBottom" fmla="*/ 1484640 h 1483560"/>
              </a:gdLst>
              <a:ahLst/>
              <a:rect l="textAreaLeft" t="textAreaTop" r="textAreaRight" b="textAreaBottom"/>
              <a:pathLst>
                <a:path w="13681075" h="1979422">
                  <a:moveTo>
                    <a:pt x="0" y="93599"/>
                  </a:moveTo>
                  <a:cubicBezTo>
                    <a:pt x="0" y="41910"/>
                    <a:pt x="42164" y="0"/>
                    <a:pt x="94107" y="0"/>
                  </a:cubicBezTo>
                  <a:lnTo>
                    <a:pt x="13586968" y="0"/>
                  </a:lnTo>
                  <a:cubicBezTo>
                    <a:pt x="13638910" y="0"/>
                    <a:pt x="13681075" y="41910"/>
                    <a:pt x="13681075" y="93599"/>
                  </a:cubicBezTo>
                  <a:lnTo>
                    <a:pt x="13681075" y="1885823"/>
                  </a:lnTo>
                  <a:cubicBezTo>
                    <a:pt x="13681075" y="1937512"/>
                    <a:pt x="13638910" y="1979422"/>
                    <a:pt x="13586968" y="1979422"/>
                  </a:cubicBezTo>
                  <a:lnTo>
                    <a:pt x="94107" y="1979422"/>
                  </a:lnTo>
                  <a:cubicBezTo>
                    <a:pt x="42164" y="1979422"/>
                    <a:pt x="0" y="1937512"/>
                    <a:pt x="0" y="1885823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" name="Freeform 27"/>
            <p:cNvSpPr/>
            <p:nvPr/>
          </p:nvSpPr>
          <p:spPr>
            <a:xfrm>
              <a:off x="7437960" y="5255280"/>
              <a:ext cx="10269360" cy="1492920"/>
            </a:xfrm>
            <a:custGeom>
              <a:avLst/>
              <a:gdLst>
                <a:gd name="textAreaLeft" fmla="*/ 0 w 10269360"/>
                <a:gd name="textAreaRight" fmla="*/ 10270440 w 10269360"/>
                <a:gd name="textAreaTop" fmla="*/ 0 h 1492920"/>
                <a:gd name="textAreaBottom" fmla="*/ 1494000 h 1492920"/>
              </a:gdLst>
              <a:ahLst/>
              <a:rect l="textAreaLeft" t="textAreaTop" r="textAreaRight" b="textAreaBottom"/>
              <a:pathLst>
                <a:path w="13693775" h="1992122">
                  <a:moveTo>
                    <a:pt x="0" y="99949"/>
                  </a:moveTo>
                  <a:cubicBezTo>
                    <a:pt x="0" y="44704"/>
                    <a:pt x="44958" y="0"/>
                    <a:pt x="100457" y="0"/>
                  </a:cubicBezTo>
                  <a:lnTo>
                    <a:pt x="13593318" y="0"/>
                  </a:lnTo>
                  <a:lnTo>
                    <a:pt x="13593318" y="6350"/>
                  </a:lnTo>
                  <a:lnTo>
                    <a:pt x="13593318" y="0"/>
                  </a:lnTo>
                  <a:cubicBezTo>
                    <a:pt x="13648689" y="0"/>
                    <a:pt x="13693775" y="44704"/>
                    <a:pt x="13693775" y="99949"/>
                  </a:cubicBezTo>
                  <a:lnTo>
                    <a:pt x="13687425" y="99949"/>
                  </a:lnTo>
                  <a:lnTo>
                    <a:pt x="13693775" y="99949"/>
                  </a:lnTo>
                  <a:lnTo>
                    <a:pt x="13693775" y="1892173"/>
                  </a:lnTo>
                  <a:lnTo>
                    <a:pt x="13687425" y="1892173"/>
                  </a:lnTo>
                  <a:lnTo>
                    <a:pt x="13693775" y="1892173"/>
                  </a:lnTo>
                  <a:cubicBezTo>
                    <a:pt x="13693775" y="1947418"/>
                    <a:pt x="13648817" y="1992122"/>
                    <a:pt x="13593318" y="1992122"/>
                  </a:cubicBezTo>
                  <a:lnTo>
                    <a:pt x="13593318" y="1985772"/>
                  </a:lnTo>
                  <a:lnTo>
                    <a:pt x="13593318" y="1992122"/>
                  </a:lnTo>
                  <a:lnTo>
                    <a:pt x="100457" y="1992122"/>
                  </a:lnTo>
                  <a:lnTo>
                    <a:pt x="100457" y="1985772"/>
                  </a:lnTo>
                  <a:lnTo>
                    <a:pt x="100457" y="1992122"/>
                  </a:lnTo>
                  <a:cubicBezTo>
                    <a:pt x="45085" y="1992122"/>
                    <a:pt x="0" y="1947418"/>
                    <a:pt x="0" y="1892173"/>
                  </a:cubicBezTo>
                  <a:lnTo>
                    <a:pt x="0" y="99949"/>
                  </a:lnTo>
                  <a:lnTo>
                    <a:pt x="6350" y="99949"/>
                  </a:lnTo>
                  <a:lnTo>
                    <a:pt x="0" y="99949"/>
                  </a:lnTo>
                  <a:moveTo>
                    <a:pt x="12700" y="99949"/>
                  </a:moveTo>
                  <a:lnTo>
                    <a:pt x="12700" y="1892173"/>
                  </a:lnTo>
                  <a:lnTo>
                    <a:pt x="6350" y="1892173"/>
                  </a:lnTo>
                  <a:lnTo>
                    <a:pt x="12700" y="1892173"/>
                  </a:lnTo>
                  <a:cubicBezTo>
                    <a:pt x="12700" y="1940306"/>
                    <a:pt x="51943" y="1979422"/>
                    <a:pt x="100457" y="1979422"/>
                  </a:cubicBezTo>
                  <a:lnTo>
                    <a:pt x="13593318" y="1979422"/>
                  </a:lnTo>
                  <a:cubicBezTo>
                    <a:pt x="13641831" y="1979422"/>
                    <a:pt x="13681075" y="1940306"/>
                    <a:pt x="13681075" y="1892173"/>
                  </a:cubicBezTo>
                  <a:lnTo>
                    <a:pt x="13681075" y="99949"/>
                  </a:lnTo>
                  <a:cubicBezTo>
                    <a:pt x="13681075" y="51816"/>
                    <a:pt x="13641831" y="12700"/>
                    <a:pt x="13593318" y="12700"/>
                  </a:cubicBezTo>
                  <a:lnTo>
                    <a:pt x="100457" y="12700"/>
                  </a:lnTo>
                  <a:lnTo>
                    <a:pt x="100457" y="6350"/>
                  </a:lnTo>
                  <a:lnTo>
                    <a:pt x="100457" y="12700"/>
                  </a:lnTo>
                  <a:cubicBezTo>
                    <a:pt x="51943" y="12700"/>
                    <a:pt x="12700" y="51816"/>
                    <a:pt x="12700" y="9994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" name="Group 28"/>
          <p:cNvGrpSpPr/>
          <p:nvPr/>
        </p:nvGrpSpPr>
        <p:grpSpPr>
          <a:xfrm>
            <a:off x="7619040" y="5436360"/>
            <a:ext cx="500040" cy="500040"/>
            <a:chOff x="7619040" y="5436360"/>
            <a:chExt cx="500040" cy="500040"/>
          </a:xfrm>
        </p:grpSpPr>
        <p:sp>
          <p:nvSpPr>
            <p:cNvPr id="307" name="Freeform 29"/>
            <p:cNvSpPr/>
            <p:nvPr/>
          </p:nvSpPr>
          <p:spPr>
            <a:xfrm>
              <a:off x="7619040" y="5436360"/>
              <a:ext cx="500040" cy="500040"/>
            </a:xfrm>
            <a:custGeom>
              <a:avLst/>
              <a:gdLst>
                <a:gd name="textAreaLeft" fmla="*/ 0 w 500040"/>
                <a:gd name="textAreaRight" fmla="*/ 501120 w 500040"/>
                <a:gd name="textAreaTop" fmla="*/ 0 h 500040"/>
                <a:gd name="textAreaBottom" fmla="*/ 501120 h 500040"/>
              </a:gdLst>
              <a:ahLst/>
              <a:rect l="textAreaLeft" t="textAreaTop" r="textAreaRight" b="textAreaBottom"/>
              <a:pathLst>
                <a:path w="668020" h="668020">
                  <a:moveTo>
                    <a:pt x="0" y="334010"/>
                  </a:moveTo>
                  <a:cubicBezTo>
                    <a:pt x="0" y="149606"/>
                    <a:pt x="149606" y="0"/>
                    <a:pt x="334010" y="0"/>
                  </a:cubicBezTo>
                  <a:cubicBezTo>
                    <a:pt x="518414" y="0"/>
                    <a:pt x="668020" y="149606"/>
                    <a:pt x="668020" y="334010"/>
                  </a:cubicBezTo>
                  <a:cubicBezTo>
                    <a:pt x="668020" y="518414"/>
                    <a:pt x="518414" y="668020"/>
                    <a:pt x="334010" y="668020"/>
                  </a:cubicBezTo>
                  <a:cubicBezTo>
                    <a:pt x="149606" y="668020"/>
                    <a:pt x="0" y="518541"/>
                    <a:pt x="0" y="334010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08" name="Freeform 30"/>
          <p:cNvSpPr/>
          <p:nvPr/>
        </p:nvSpPr>
        <p:spPr>
          <a:xfrm>
            <a:off x="7756920" y="5573880"/>
            <a:ext cx="224280" cy="224280"/>
          </a:xfrm>
          <a:custGeom>
            <a:avLst/>
            <a:gdLst>
              <a:gd name="textAreaLeft" fmla="*/ 0 w 224280"/>
              <a:gd name="textAreaRight" fmla="*/ 225360 w 224280"/>
              <a:gd name="textAreaTop" fmla="*/ 0 h 224280"/>
              <a:gd name="textAreaBottom" fmla="*/ 225360 h 224280"/>
            </a:gdLst>
            <a:ahLst/>
            <a:rect l="textAreaLeft" t="textAreaTop" r="textAreaRight" b="textAreaBottom"/>
            <a:pathLst>
              <a:path w="225476" h="225476">
                <a:moveTo>
                  <a:pt x="0" y="0"/>
                </a:moveTo>
                <a:lnTo>
                  <a:pt x="225476" y="0"/>
                </a:lnTo>
                <a:lnTo>
                  <a:pt x="225476" y="225475"/>
                </a:lnTo>
                <a:lnTo>
                  <a:pt x="0" y="2254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31"/>
          <p:cNvSpPr/>
          <p:nvPr/>
        </p:nvSpPr>
        <p:spPr>
          <a:xfrm>
            <a:off x="7619040" y="6016680"/>
            <a:ext cx="2087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98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arial"/>
                <a:ea typeface="arial"/>
              </a:rPr>
              <a:t>MongoDB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32"/>
          <p:cNvSpPr/>
          <p:nvPr/>
        </p:nvSpPr>
        <p:spPr>
          <a:xfrm>
            <a:off x="7619040" y="6346080"/>
            <a:ext cx="99068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24"/>
              </a:lnSpc>
            </a:pPr>
            <a:r>
              <a:rPr b="0" lang="en-US" sz="1310" spc="-1" strike="noStrike">
                <a:solidFill>
                  <a:srgbClr val="2c3249"/>
                </a:solidFill>
                <a:latin typeface="Martel Sans"/>
                <a:ea typeface="Martel Sans"/>
              </a:rPr>
              <a:t>Persistent storage with collection initialization</a:t>
            </a:r>
            <a:endParaRPr b="0" lang="en-IN" sz="131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1" name="Group 33"/>
          <p:cNvGrpSpPr/>
          <p:nvPr/>
        </p:nvGrpSpPr>
        <p:grpSpPr>
          <a:xfrm>
            <a:off x="7437960" y="6838200"/>
            <a:ext cx="10269360" cy="1492920"/>
            <a:chOff x="7437960" y="6838200"/>
            <a:chExt cx="10269360" cy="1492920"/>
          </a:xfrm>
        </p:grpSpPr>
        <p:sp>
          <p:nvSpPr>
            <p:cNvPr id="312" name="Freeform 34"/>
            <p:cNvSpPr/>
            <p:nvPr/>
          </p:nvSpPr>
          <p:spPr>
            <a:xfrm>
              <a:off x="7442640" y="6842880"/>
              <a:ext cx="10259640" cy="1483560"/>
            </a:xfrm>
            <a:custGeom>
              <a:avLst/>
              <a:gdLst>
                <a:gd name="textAreaLeft" fmla="*/ 0 w 10259640"/>
                <a:gd name="textAreaRight" fmla="*/ 10260720 w 10259640"/>
                <a:gd name="textAreaTop" fmla="*/ 0 h 1483560"/>
                <a:gd name="textAreaBottom" fmla="*/ 1484640 h 1483560"/>
              </a:gdLst>
              <a:ahLst/>
              <a:rect l="textAreaLeft" t="textAreaTop" r="textAreaRight" b="textAreaBottom"/>
              <a:pathLst>
                <a:path w="13681075" h="1979422">
                  <a:moveTo>
                    <a:pt x="0" y="93599"/>
                  </a:moveTo>
                  <a:cubicBezTo>
                    <a:pt x="0" y="41910"/>
                    <a:pt x="42164" y="0"/>
                    <a:pt x="94107" y="0"/>
                  </a:cubicBezTo>
                  <a:lnTo>
                    <a:pt x="13586968" y="0"/>
                  </a:lnTo>
                  <a:cubicBezTo>
                    <a:pt x="13638910" y="0"/>
                    <a:pt x="13681075" y="41910"/>
                    <a:pt x="13681075" y="93599"/>
                  </a:cubicBezTo>
                  <a:lnTo>
                    <a:pt x="13681075" y="1885823"/>
                  </a:lnTo>
                  <a:cubicBezTo>
                    <a:pt x="13681075" y="1937512"/>
                    <a:pt x="13638910" y="1979422"/>
                    <a:pt x="13586968" y="1979422"/>
                  </a:cubicBezTo>
                  <a:lnTo>
                    <a:pt x="94107" y="1979422"/>
                  </a:lnTo>
                  <a:cubicBezTo>
                    <a:pt x="42164" y="1979422"/>
                    <a:pt x="0" y="1937512"/>
                    <a:pt x="0" y="1885823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" name="Freeform 35"/>
            <p:cNvSpPr/>
            <p:nvPr/>
          </p:nvSpPr>
          <p:spPr>
            <a:xfrm>
              <a:off x="7437960" y="6838200"/>
              <a:ext cx="10269360" cy="1492920"/>
            </a:xfrm>
            <a:custGeom>
              <a:avLst/>
              <a:gdLst>
                <a:gd name="textAreaLeft" fmla="*/ 0 w 10269360"/>
                <a:gd name="textAreaRight" fmla="*/ 10270440 w 10269360"/>
                <a:gd name="textAreaTop" fmla="*/ 0 h 1492920"/>
                <a:gd name="textAreaBottom" fmla="*/ 1494000 h 1492920"/>
              </a:gdLst>
              <a:ahLst/>
              <a:rect l="textAreaLeft" t="textAreaTop" r="textAreaRight" b="textAreaBottom"/>
              <a:pathLst>
                <a:path w="13693775" h="1992122">
                  <a:moveTo>
                    <a:pt x="0" y="99949"/>
                  </a:moveTo>
                  <a:cubicBezTo>
                    <a:pt x="0" y="44704"/>
                    <a:pt x="44958" y="0"/>
                    <a:pt x="100457" y="0"/>
                  </a:cubicBezTo>
                  <a:lnTo>
                    <a:pt x="13593318" y="0"/>
                  </a:lnTo>
                  <a:lnTo>
                    <a:pt x="13593318" y="6350"/>
                  </a:lnTo>
                  <a:lnTo>
                    <a:pt x="13593318" y="0"/>
                  </a:lnTo>
                  <a:cubicBezTo>
                    <a:pt x="13648689" y="0"/>
                    <a:pt x="13693775" y="44704"/>
                    <a:pt x="13693775" y="99949"/>
                  </a:cubicBezTo>
                  <a:lnTo>
                    <a:pt x="13687425" y="99949"/>
                  </a:lnTo>
                  <a:lnTo>
                    <a:pt x="13693775" y="99949"/>
                  </a:lnTo>
                  <a:lnTo>
                    <a:pt x="13693775" y="1892173"/>
                  </a:lnTo>
                  <a:lnTo>
                    <a:pt x="13687425" y="1892173"/>
                  </a:lnTo>
                  <a:lnTo>
                    <a:pt x="13693775" y="1892173"/>
                  </a:lnTo>
                  <a:cubicBezTo>
                    <a:pt x="13693775" y="1947418"/>
                    <a:pt x="13648817" y="1992122"/>
                    <a:pt x="13593318" y="1992122"/>
                  </a:cubicBezTo>
                  <a:lnTo>
                    <a:pt x="13593318" y="1985772"/>
                  </a:lnTo>
                  <a:lnTo>
                    <a:pt x="13593318" y="1992122"/>
                  </a:lnTo>
                  <a:lnTo>
                    <a:pt x="100457" y="1992122"/>
                  </a:lnTo>
                  <a:lnTo>
                    <a:pt x="100457" y="1985772"/>
                  </a:lnTo>
                  <a:lnTo>
                    <a:pt x="100457" y="1992122"/>
                  </a:lnTo>
                  <a:cubicBezTo>
                    <a:pt x="45085" y="1992122"/>
                    <a:pt x="0" y="1947418"/>
                    <a:pt x="0" y="1892173"/>
                  </a:cubicBezTo>
                  <a:lnTo>
                    <a:pt x="0" y="99949"/>
                  </a:lnTo>
                  <a:lnTo>
                    <a:pt x="6350" y="99949"/>
                  </a:lnTo>
                  <a:lnTo>
                    <a:pt x="0" y="99949"/>
                  </a:lnTo>
                  <a:moveTo>
                    <a:pt x="12700" y="99949"/>
                  </a:moveTo>
                  <a:lnTo>
                    <a:pt x="12700" y="1892173"/>
                  </a:lnTo>
                  <a:lnTo>
                    <a:pt x="6350" y="1892173"/>
                  </a:lnTo>
                  <a:lnTo>
                    <a:pt x="12700" y="1892173"/>
                  </a:lnTo>
                  <a:cubicBezTo>
                    <a:pt x="12700" y="1940306"/>
                    <a:pt x="51943" y="1979422"/>
                    <a:pt x="100457" y="1979422"/>
                  </a:cubicBezTo>
                  <a:lnTo>
                    <a:pt x="13593318" y="1979422"/>
                  </a:lnTo>
                  <a:cubicBezTo>
                    <a:pt x="13641831" y="1979422"/>
                    <a:pt x="13681075" y="1940306"/>
                    <a:pt x="13681075" y="1892173"/>
                  </a:cubicBezTo>
                  <a:lnTo>
                    <a:pt x="13681075" y="99949"/>
                  </a:lnTo>
                  <a:cubicBezTo>
                    <a:pt x="13681075" y="51816"/>
                    <a:pt x="13641831" y="12700"/>
                    <a:pt x="13593318" y="12700"/>
                  </a:cubicBezTo>
                  <a:lnTo>
                    <a:pt x="100457" y="12700"/>
                  </a:lnTo>
                  <a:lnTo>
                    <a:pt x="100457" y="6350"/>
                  </a:lnTo>
                  <a:lnTo>
                    <a:pt x="100457" y="12700"/>
                  </a:lnTo>
                  <a:cubicBezTo>
                    <a:pt x="51943" y="12700"/>
                    <a:pt x="12700" y="51816"/>
                    <a:pt x="12700" y="99949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" name="Group 36"/>
          <p:cNvGrpSpPr/>
          <p:nvPr/>
        </p:nvGrpSpPr>
        <p:grpSpPr>
          <a:xfrm>
            <a:off x="7619040" y="7019280"/>
            <a:ext cx="500040" cy="500040"/>
            <a:chOff x="7619040" y="7019280"/>
            <a:chExt cx="500040" cy="500040"/>
          </a:xfrm>
        </p:grpSpPr>
        <p:sp>
          <p:nvSpPr>
            <p:cNvPr id="315" name="Freeform 37"/>
            <p:cNvSpPr/>
            <p:nvPr/>
          </p:nvSpPr>
          <p:spPr>
            <a:xfrm>
              <a:off x="7619040" y="7019280"/>
              <a:ext cx="500040" cy="500040"/>
            </a:xfrm>
            <a:custGeom>
              <a:avLst/>
              <a:gdLst>
                <a:gd name="textAreaLeft" fmla="*/ 0 w 500040"/>
                <a:gd name="textAreaRight" fmla="*/ 501120 w 500040"/>
                <a:gd name="textAreaTop" fmla="*/ 0 h 500040"/>
                <a:gd name="textAreaBottom" fmla="*/ 501120 h 500040"/>
              </a:gdLst>
              <a:ahLst/>
              <a:rect l="textAreaLeft" t="textAreaTop" r="textAreaRight" b="textAreaBottom"/>
              <a:pathLst>
                <a:path w="668020" h="668020">
                  <a:moveTo>
                    <a:pt x="0" y="334010"/>
                  </a:moveTo>
                  <a:cubicBezTo>
                    <a:pt x="0" y="149606"/>
                    <a:pt x="149606" y="0"/>
                    <a:pt x="334010" y="0"/>
                  </a:cubicBezTo>
                  <a:cubicBezTo>
                    <a:pt x="518414" y="0"/>
                    <a:pt x="668020" y="149606"/>
                    <a:pt x="668020" y="334010"/>
                  </a:cubicBezTo>
                  <a:cubicBezTo>
                    <a:pt x="668020" y="518414"/>
                    <a:pt x="518414" y="668020"/>
                    <a:pt x="334010" y="668020"/>
                  </a:cubicBezTo>
                  <a:cubicBezTo>
                    <a:pt x="149606" y="668020"/>
                    <a:pt x="0" y="518541"/>
                    <a:pt x="0" y="334010"/>
                  </a:cubicBez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16" name="Freeform 38"/>
          <p:cNvSpPr/>
          <p:nvPr/>
        </p:nvSpPr>
        <p:spPr>
          <a:xfrm>
            <a:off x="7756920" y="7157160"/>
            <a:ext cx="224280" cy="224280"/>
          </a:xfrm>
          <a:custGeom>
            <a:avLst/>
            <a:gdLst>
              <a:gd name="textAreaLeft" fmla="*/ 0 w 224280"/>
              <a:gd name="textAreaRight" fmla="*/ 225360 w 224280"/>
              <a:gd name="textAreaTop" fmla="*/ 0 h 224280"/>
              <a:gd name="textAreaBottom" fmla="*/ 225360 h 224280"/>
            </a:gdLst>
            <a:ahLst/>
            <a:rect l="textAreaLeft" t="textAreaTop" r="textAreaRight" b="textAreaBottom"/>
            <a:pathLst>
              <a:path w="225476" h="225476">
                <a:moveTo>
                  <a:pt x="0" y="0"/>
                </a:moveTo>
                <a:lnTo>
                  <a:pt x="225476" y="0"/>
                </a:lnTo>
                <a:lnTo>
                  <a:pt x="225476" y="225476"/>
                </a:lnTo>
                <a:lnTo>
                  <a:pt x="0" y="2254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39"/>
          <p:cNvSpPr/>
          <p:nvPr/>
        </p:nvSpPr>
        <p:spPr>
          <a:xfrm>
            <a:off x="7619040" y="7599600"/>
            <a:ext cx="2087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98"/>
              </a:lnSpc>
            </a:pPr>
            <a:r>
              <a:rPr b="0" lang="en-US" sz="1620" spc="-1" strike="noStrike">
                <a:solidFill>
                  <a:srgbClr val="2c3249"/>
                </a:solidFill>
                <a:latin typeface="arial"/>
                <a:ea typeface="arial"/>
              </a:rPr>
              <a:t>MinIO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40"/>
          <p:cNvSpPr/>
          <p:nvPr/>
        </p:nvSpPr>
        <p:spPr>
          <a:xfrm>
            <a:off x="7619040" y="7929000"/>
            <a:ext cx="990684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24"/>
              </a:lnSpc>
            </a:pPr>
            <a:r>
              <a:rPr b="0" lang="en-US" sz="1310" spc="-1" strike="noStrike">
                <a:solidFill>
                  <a:srgbClr val="2c3249"/>
                </a:solidFill>
                <a:latin typeface="Martel Sans"/>
                <a:ea typeface="Martel Sans"/>
              </a:rPr>
              <a:t>Auto-initialization with bucket creation and health checks</a:t>
            </a:r>
            <a:endParaRPr b="0" lang="en-IN" sz="13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41"/>
          <p:cNvSpPr/>
          <p:nvPr/>
        </p:nvSpPr>
        <p:spPr>
          <a:xfrm>
            <a:off x="7442640" y="8428680"/>
            <a:ext cx="1025964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24"/>
              </a:lnSpc>
            </a:pPr>
            <a:r>
              <a:rPr b="0" lang="en-US" sz="1310" spc="-1" strike="noStrike">
                <a:solidFill>
                  <a:srgbClr val="2c3249"/>
                </a:solidFill>
                <a:latin typeface="Martel Sans"/>
                <a:ea typeface="Martel Sans"/>
              </a:rPr>
              <a:t>Complete containerized infrastructure with volume persistence for data durability. Automatic health checks ensure services are ready before application startup. Easy local development setup with single command deployment.</a:t>
            </a:r>
            <a:endParaRPr b="0" lang="en-IN" sz="131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321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2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323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4" name="TextBox 6"/>
          <p:cNvSpPr/>
          <p:nvPr/>
        </p:nvSpPr>
        <p:spPr>
          <a:xfrm>
            <a:off x="2328120" y="1021680"/>
            <a:ext cx="7031160" cy="6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13"/>
              </a:lnSpc>
            </a:pPr>
            <a:r>
              <a:rPr b="0" lang="en-US" sz="3870" spc="-1" strike="noStrike">
                <a:solidFill>
                  <a:srgbClr val="272d45"/>
                </a:solidFill>
                <a:latin typeface="arial"/>
                <a:ea typeface="arial"/>
              </a:rPr>
              <a:t>Achievements &amp; Current Status</a:t>
            </a:r>
            <a:endParaRPr b="0" lang="en-IN" sz="3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7"/>
          <p:cNvSpPr/>
          <p:nvPr/>
        </p:nvSpPr>
        <p:spPr>
          <a:xfrm>
            <a:off x="2328120" y="1992600"/>
            <a:ext cx="3251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874"/>
              </a:lnSpc>
            </a:pPr>
            <a:r>
              <a:rPr b="0" lang="en-US" sz="2310" spc="-1" strike="noStrike">
                <a:solidFill>
                  <a:srgbClr val="000000"/>
                </a:solidFill>
                <a:latin typeface="arial"/>
                <a:ea typeface="arial"/>
              </a:rPr>
              <a:t>✅</a:t>
            </a:r>
            <a:r>
              <a:rPr b="0" lang="en-US" sz="2310" spc="-1" strike="noStrike">
                <a:solidFill>
                  <a:srgbClr val="272d45"/>
                </a:solidFill>
                <a:latin typeface="arial"/>
                <a:ea typeface="arial"/>
              </a:rPr>
              <a:t> </a:t>
            </a:r>
            <a:r>
              <a:rPr b="0" lang="en-US" sz="2310" spc="-1" strike="noStrike">
                <a:solidFill>
                  <a:srgbClr val="272d45"/>
                </a:solidFill>
                <a:latin typeface="arial"/>
                <a:ea typeface="arial"/>
              </a:rPr>
              <a:t>Completed Features</a:t>
            </a:r>
            <a:endParaRPr b="0" lang="en-IN" sz="23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Freeform 8"/>
          <p:cNvSpPr/>
          <p:nvPr/>
        </p:nvSpPr>
        <p:spPr>
          <a:xfrm>
            <a:off x="2328120" y="2580480"/>
            <a:ext cx="196560" cy="196560"/>
          </a:xfrm>
          <a:custGeom>
            <a:avLst/>
            <a:gdLst>
              <a:gd name="textAreaLeft" fmla="*/ 0 w 196560"/>
              <a:gd name="textAreaRight" fmla="*/ 197640 w 196560"/>
              <a:gd name="textAreaTop" fmla="*/ 0 h 196560"/>
              <a:gd name="textAreaBottom" fmla="*/ 197640 h 196560"/>
            </a:gdLst>
            <a:ahLst/>
            <a:rect l="textAreaLeft" t="textAreaTop" r="textAreaRight" b="textAreaBottom"/>
            <a:pathLst>
              <a:path w="197491" h="197491">
                <a:moveTo>
                  <a:pt x="0" y="0"/>
                </a:moveTo>
                <a:lnTo>
                  <a:pt x="197491" y="0"/>
                </a:lnTo>
                <a:lnTo>
                  <a:pt x="197491" y="197491"/>
                </a:lnTo>
                <a:lnTo>
                  <a:pt x="0" y="1974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7" name="Group 9"/>
          <p:cNvGrpSpPr/>
          <p:nvPr/>
        </p:nvGrpSpPr>
        <p:grpSpPr>
          <a:xfrm>
            <a:off x="2328120" y="2862720"/>
            <a:ext cx="4276080" cy="27360"/>
            <a:chOff x="2328120" y="2862720"/>
            <a:chExt cx="4276080" cy="27360"/>
          </a:xfrm>
        </p:grpSpPr>
        <p:sp>
          <p:nvSpPr>
            <p:cNvPr id="328" name="Freeform 10"/>
            <p:cNvSpPr/>
            <p:nvPr/>
          </p:nvSpPr>
          <p:spPr>
            <a:xfrm>
              <a:off x="2328120" y="2862720"/>
              <a:ext cx="4276080" cy="27360"/>
            </a:xfrm>
            <a:custGeom>
              <a:avLst/>
              <a:gdLst>
                <a:gd name="textAreaLeft" fmla="*/ 0 w 4276080"/>
                <a:gd name="textAreaRight" fmla="*/ 4277160 w 427608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5702935" h="38100">
                  <a:moveTo>
                    <a:pt x="0" y="0"/>
                  </a:moveTo>
                  <a:lnTo>
                    <a:pt x="5702935" y="0"/>
                  </a:lnTo>
                  <a:lnTo>
                    <a:pt x="57029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560" bIns="-165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29" name="TextBox 11"/>
          <p:cNvSpPr/>
          <p:nvPr/>
        </p:nvSpPr>
        <p:spPr>
          <a:xfrm>
            <a:off x="2328120" y="2999520"/>
            <a:ext cx="2468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940" spc="-1" strike="noStrike">
                <a:solidFill>
                  <a:srgbClr val="2c3249"/>
                </a:solidFill>
                <a:latin typeface="arial"/>
                <a:ea typeface="arial"/>
              </a:rPr>
              <a:t>Full-Stack Application</a:t>
            </a:r>
            <a:endParaRPr b="0" lang="en-IN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12"/>
          <p:cNvSpPr/>
          <p:nvPr/>
        </p:nvSpPr>
        <p:spPr>
          <a:xfrm>
            <a:off x="2328120" y="3445560"/>
            <a:ext cx="42760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61"/>
              </a:lnSpc>
            </a:pP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Complete e-commerce platform with authentication and authorization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Freeform 13"/>
          <p:cNvSpPr/>
          <p:nvPr/>
        </p:nvSpPr>
        <p:spPr>
          <a:xfrm>
            <a:off x="6742800" y="2580480"/>
            <a:ext cx="196560" cy="196560"/>
          </a:xfrm>
          <a:custGeom>
            <a:avLst/>
            <a:gdLst>
              <a:gd name="textAreaLeft" fmla="*/ 0 w 196560"/>
              <a:gd name="textAreaRight" fmla="*/ 197640 w 196560"/>
              <a:gd name="textAreaTop" fmla="*/ 0 h 196560"/>
              <a:gd name="textAreaBottom" fmla="*/ 197640 h 196560"/>
            </a:gdLst>
            <a:ahLst/>
            <a:rect l="textAreaLeft" t="textAreaTop" r="textAreaRight" b="textAreaBottom"/>
            <a:pathLst>
              <a:path w="197491" h="197491">
                <a:moveTo>
                  <a:pt x="0" y="0"/>
                </a:moveTo>
                <a:lnTo>
                  <a:pt x="197491" y="0"/>
                </a:lnTo>
                <a:lnTo>
                  <a:pt x="197491" y="197491"/>
                </a:lnTo>
                <a:lnTo>
                  <a:pt x="0" y="1974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2" name="Group 14"/>
          <p:cNvGrpSpPr/>
          <p:nvPr/>
        </p:nvGrpSpPr>
        <p:grpSpPr>
          <a:xfrm>
            <a:off x="6742800" y="2862720"/>
            <a:ext cx="4276080" cy="27360"/>
            <a:chOff x="6742800" y="2862720"/>
            <a:chExt cx="4276080" cy="27360"/>
          </a:xfrm>
        </p:grpSpPr>
        <p:sp>
          <p:nvSpPr>
            <p:cNvPr id="333" name="Freeform 15"/>
            <p:cNvSpPr/>
            <p:nvPr/>
          </p:nvSpPr>
          <p:spPr>
            <a:xfrm>
              <a:off x="6742800" y="2862720"/>
              <a:ext cx="4276080" cy="27360"/>
            </a:xfrm>
            <a:custGeom>
              <a:avLst/>
              <a:gdLst>
                <a:gd name="textAreaLeft" fmla="*/ 0 w 4276080"/>
                <a:gd name="textAreaRight" fmla="*/ 4277160 w 427608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5702935" h="38100">
                  <a:moveTo>
                    <a:pt x="0" y="0"/>
                  </a:moveTo>
                  <a:lnTo>
                    <a:pt x="5702935" y="0"/>
                  </a:lnTo>
                  <a:lnTo>
                    <a:pt x="57029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560" bIns="-165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34" name="TextBox 16"/>
          <p:cNvSpPr/>
          <p:nvPr/>
        </p:nvSpPr>
        <p:spPr>
          <a:xfrm>
            <a:off x="6742800" y="2999520"/>
            <a:ext cx="2468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940" spc="-1" strike="noStrike">
                <a:solidFill>
                  <a:srgbClr val="2c3249"/>
                </a:solidFill>
                <a:latin typeface="arial"/>
                <a:ea typeface="arial"/>
              </a:rPr>
              <a:t>Event Streaming</a:t>
            </a:r>
            <a:endParaRPr b="0" lang="en-IN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17"/>
          <p:cNvSpPr/>
          <p:nvPr/>
        </p:nvSpPr>
        <p:spPr>
          <a:xfrm>
            <a:off x="6742800" y="3445560"/>
            <a:ext cx="42760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61"/>
              </a:lnSpc>
            </a:pP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Real-time Kafka integration with message brokering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Freeform 18"/>
          <p:cNvSpPr/>
          <p:nvPr/>
        </p:nvSpPr>
        <p:spPr>
          <a:xfrm>
            <a:off x="2328120" y="4311000"/>
            <a:ext cx="196560" cy="196560"/>
          </a:xfrm>
          <a:custGeom>
            <a:avLst/>
            <a:gdLst>
              <a:gd name="textAreaLeft" fmla="*/ 0 w 196560"/>
              <a:gd name="textAreaRight" fmla="*/ 197640 w 196560"/>
              <a:gd name="textAreaTop" fmla="*/ 0 h 196560"/>
              <a:gd name="textAreaBottom" fmla="*/ 197640 h 196560"/>
            </a:gdLst>
            <a:ahLst/>
            <a:rect l="textAreaLeft" t="textAreaTop" r="textAreaRight" b="textAreaBottom"/>
            <a:pathLst>
              <a:path w="197491" h="197491">
                <a:moveTo>
                  <a:pt x="0" y="0"/>
                </a:moveTo>
                <a:lnTo>
                  <a:pt x="197491" y="0"/>
                </a:lnTo>
                <a:lnTo>
                  <a:pt x="197491" y="197491"/>
                </a:lnTo>
                <a:lnTo>
                  <a:pt x="0" y="1974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7" name="Group 19"/>
          <p:cNvGrpSpPr/>
          <p:nvPr/>
        </p:nvGrpSpPr>
        <p:grpSpPr>
          <a:xfrm>
            <a:off x="2328120" y="4593240"/>
            <a:ext cx="4276080" cy="27360"/>
            <a:chOff x="2328120" y="4593240"/>
            <a:chExt cx="4276080" cy="27360"/>
          </a:xfrm>
        </p:grpSpPr>
        <p:sp>
          <p:nvSpPr>
            <p:cNvPr id="338" name="Freeform 20"/>
            <p:cNvSpPr/>
            <p:nvPr/>
          </p:nvSpPr>
          <p:spPr>
            <a:xfrm>
              <a:off x="2328120" y="4593240"/>
              <a:ext cx="4276080" cy="27360"/>
            </a:xfrm>
            <a:custGeom>
              <a:avLst/>
              <a:gdLst>
                <a:gd name="textAreaLeft" fmla="*/ 0 w 4276080"/>
                <a:gd name="textAreaRight" fmla="*/ 4277160 w 427608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5702935" h="38100">
                  <a:moveTo>
                    <a:pt x="0" y="0"/>
                  </a:moveTo>
                  <a:lnTo>
                    <a:pt x="5702935" y="0"/>
                  </a:lnTo>
                  <a:lnTo>
                    <a:pt x="57029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560" bIns="-165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39" name="TextBox 21"/>
          <p:cNvSpPr/>
          <p:nvPr/>
        </p:nvSpPr>
        <p:spPr>
          <a:xfrm>
            <a:off x="2328120" y="4730040"/>
            <a:ext cx="2468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940" spc="-1" strike="noStrike">
                <a:solidFill>
                  <a:srgbClr val="2c3249"/>
                </a:solidFill>
                <a:latin typeface="arial"/>
                <a:ea typeface="arial"/>
              </a:rPr>
              <a:t>Spark Streaming</a:t>
            </a:r>
            <a:endParaRPr b="0" lang="en-IN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22"/>
          <p:cNvSpPr/>
          <p:nvPr/>
        </p:nvSpPr>
        <p:spPr>
          <a:xfrm>
            <a:off x="2328120" y="5176080"/>
            <a:ext cx="42760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61"/>
              </a:lnSpc>
            </a:pP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Continuous job writing to data lake with fault tolerance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Freeform 23"/>
          <p:cNvSpPr/>
          <p:nvPr/>
        </p:nvSpPr>
        <p:spPr>
          <a:xfrm>
            <a:off x="6742800" y="4311000"/>
            <a:ext cx="196560" cy="196560"/>
          </a:xfrm>
          <a:custGeom>
            <a:avLst/>
            <a:gdLst>
              <a:gd name="textAreaLeft" fmla="*/ 0 w 196560"/>
              <a:gd name="textAreaRight" fmla="*/ 197640 w 196560"/>
              <a:gd name="textAreaTop" fmla="*/ 0 h 196560"/>
              <a:gd name="textAreaBottom" fmla="*/ 197640 h 196560"/>
            </a:gdLst>
            <a:ahLst/>
            <a:rect l="textAreaLeft" t="textAreaTop" r="textAreaRight" b="textAreaBottom"/>
            <a:pathLst>
              <a:path w="197491" h="197491">
                <a:moveTo>
                  <a:pt x="0" y="0"/>
                </a:moveTo>
                <a:lnTo>
                  <a:pt x="197491" y="0"/>
                </a:lnTo>
                <a:lnTo>
                  <a:pt x="197491" y="197491"/>
                </a:lnTo>
                <a:lnTo>
                  <a:pt x="0" y="1974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2" name="Group 24"/>
          <p:cNvGrpSpPr/>
          <p:nvPr/>
        </p:nvGrpSpPr>
        <p:grpSpPr>
          <a:xfrm>
            <a:off x="6742800" y="4593240"/>
            <a:ext cx="4276080" cy="27360"/>
            <a:chOff x="6742800" y="4593240"/>
            <a:chExt cx="4276080" cy="27360"/>
          </a:xfrm>
        </p:grpSpPr>
        <p:sp>
          <p:nvSpPr>
            <p:cNvPr id="343" name="Freeform 25"/>
            <p:cNvSpPr/>
            <p:nvPr/>
          </p:nvSpPr>
          <p:spPr>
            <a:xfrm>
              <a:off x="6742800" y="4593240"/>
              <a:ext cx="4276080" cy="27360"/>
            </a:xfrm>
            <a:custGeom>
              <a:avLst/>
              <a:gdLst>
                <a:gd name="textAreaLeft" fmla="*/ 0 w 4276080"/>
                <a:gd name="textAreaRight" fmla="*/ 4277160 w 427608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5702935" h="38100">
                  <a:moveTo>
                    <a:pt x="0" y="0"/>
                  </a:moveTo>
                  <a:lnTo>
                    <a:pt x="5702935" y="0"/>
                  </a:lnTo>
                  <a:lnTo>
                    <a:pt x="57029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560" bIns="-165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44" name="TextBox 26"/>
          <p:cNvSpPr/>
          <p:nvPr/>
        </p:nvSpPr>
        <p:spPr>
          <a:xfrm>
            <a:off x="6742800" y="4730040"/>
            <a:ext cx="2468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940" spc="-1" strike="noStrike">
                <a:solidFill>
                  <a:srgbClr val="2c3249"/>
                </a:solidFill>
                <a:latin typeface="arial"/>
                <a:ea typeface="arial"/>
              </a:rPr>
              <a:t>Live Dashboard</a:t>
            </a:r>
            <a:endParaRPr b="0" lang="en-IN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27"/>
          <p:cNvSpPr/>
          <p:nvPr/>
        </p:nvSpPr>
        <p:spPr>
          <a:xfrm>
            <a:off x="6742800" y="5176080"/>
            <a:ext cx="427608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61"/>
              </a:lnSpc>
            </a:pP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WebSocket-based real-time metrics and KPIs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Freeform 28"/>
          <p:cNvSpPr/>
          <p:nvPr/>
        </p:nvSpPr>
        <p:spPr>
          <a:xfrm>
            <a:off x="2328120" y="6041520"/>
            <a:ext cx="196560" cy="196560"/>
          </a:xfrm>
          <a:custGeom>
            <a:avLst/>
            <a:gdLst>
              <a:gd name="textAreaLeft" fmla="*/ 0 w 196560"/>
              <a:gd name="textAreaRight" fmla="*/ 197640 w 196560"/>
              <a:gd name="textAreaTop" fmla="*/ 0 h 196560"/>
              <a:gd name="textAreaBottom" fmla="*/ 197640 h 196560"/>
            </a:gdLst>
            <a:ahLst/>
            <a:rect l="textAreaLeft" t="textAreaTop" r="textAreaRight" b="textAreaBottom"/>
            <a:pathLst>
              <a:path w="197491" h="197491">
                <a:moveTo>
                  <a:pt x="0" y="0"/>
                </a:moveTo>
                <a:lnTo>
                  <a:pt x="197491" y="0"/>
                </a:lnTo>
                <a:lnTo>
                  <a:pt x="197491" y="197491"/>
                </a:lnTo>
                <a:lnTo>
                  <a:pt x="0" y="1974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7" name="Group 29"/>
          <p:cNvGrpSpPr/>
          <p:nvPr/>
        </p:nvGrpSpPr>
        <p:grpSpPr>
          <a:xfrm>
            <a:off x="2328120" y="6323760"/>
            <a:ext cx="4276080" cy="27360"/>
            <a:chOff x="2328120" y="6323760"/>
            <a:chExt cx="4276080" cy="27360"/>
          </a:xfrm>
        </p:grpSpPr>
        <p:sp>
          <p:nvSpPr>
            <p:cNvPr id="348" name="Freeform 30"/>
            <p:cNvSpPr/>
            <p:nvPr/>
          </p:nvSpPr>
          <p:spPr>
            <a:xfrm>
              <a:off x="2328120" y="6323760"/>
              <a:ext cx="4276080" cy="27360"/>
            </a:xfrm>
            <a:custGeom>
              <a:avLst/>
              <a:gdLst>
                <a:gd name="textAreaLeft" fmla="*/ 0 w 4276080"/>
                <a:gd name="textAreaRight" fmla="*/ 4277160 w 427608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5702935" h="38100">
                  <a:moveTo>
                    <a:pt x="0" y="0"/>
                  </a:moveTo>
                  <a:lnTo>
                    <a:pt x="5702935" y="0"/>
                  </a:lnTo>
                  <a:lnTo>
                    <a:pt x="57029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560" bIns="-165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49" name="TextBox 31"/>
          <p:cNvSpPr/>
          <p:nvPr/>
        </p:nvSpPr>
        <p:spPr>
          <a:xfrm>
            <a:off x="2328120" y="6460560"/>
            <a:ext cx="2468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940" spc="-1" strike="noStrike">
                <a:solidFill>
                  <a:srgbClr val="2c3249"/>
                </a:solidFill>
                <a:latin typeface="arial"/>
                <a:ea typeface="arial"/>
              </a:rPr>
              <a:t>Image Management</a:t>
            </a:r>
            <a:endParaRPr b="0" lang="en-IN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32"/>
          <p:cNvSpPr/>
          <p:nvPr/>
        </p:nvSpPr>
        <p:spPr>
          <a:xfrm>
            <a:off x="2328120" y="6906600"/>
            <a:ext cx="42760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61"/>
              </a:lnSpc>
            </a:pP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Upload and storage system with MinIO integration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1" name="Group 33"/>
          <p:cNvGrpSpPr/>
          <p:nvPr/>
        </p:nvGrpSpPr>
        <p:grpSpPr>
          <a:xfrm>
            <a:off x="6742800" y="6323760"/>
            <a:ext cx="4276080" cy="27360"/>
            <a:chOff x="6742800" y="6323760"/>
            <a:chExt cx="4276080" cy="27360"/>
          </a:xfrm>
        </p:grpSpPr>
        <p:sp>
          <p:nvSpPr>
            <p:cNvPr id="352" name="Freeform 34"/>
            <p:cNvSpPr/>
            <p:nvPr/>
          </p:nvSpPr>
          <p:spPr>
            <a:xfrm>
              <a:off x="6742800" y="6323760"/>
              <a:ext cx="4276080" cy="27360"/>
            </a:xfrm>
            <a:custGeom>
              <a:avLst/>
              <a:gdLst>
                <a:gd name="textAreaLeft" fmla="*/ 0 w 4276080"/>
                <a:gd name="textAreaRight" fmla="*/ 4277160 w 427608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5702935" h="38100">
                  <a:moveTo>
                    <a:pt x="0" y="0"/>
                  </a:moveTo>
                  <a:lnTo>
                    <a:pt x="5702935" y="0"/>
                  </a:lnTo>
                  <a:lnTo>
                    <a:pt x="57029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560" bIns="-165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53" name="TextBox 35"/>
          <p:cNvSpPr/>
          <p:nvPr/>
        </p:nvSpPr>
        <p:spPr>
          <a:xfrm>
            <a:off x="6742800" y="6460560"/>
            <a:ext cx="2468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940" spc="-1" strike="noStrike">
                <a:solidFill>
                  <a:srgbClr val="2c3249"/>
                </a:solidFill>
                <a:latin typeface="arial"/>
                <a:ea typeface="arial"/>
              </a:rPr>
              <a:t>Docker Infrastructure</a:t>
            </a:r>
            <a:endParaRPr b="0" lang="en-IN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36"/>
          <p:cNvSpPr/>
          <p:nvPr/>
        </p:nvSpPr>
        <p:spPr>
          <a:xfrm>
            <a:off x="6742800" y="6906600"/>
            <a:ext cx="42760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61"/>
              </a:lnSpc>
            </a:pP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Containerized services with automated orchestration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Freeform 37"/>
          <p:cNvSpPr/>
          <p:nvPr/>
        </p:nvSpPr>
        <p:spPr>
          <a:xfrm>
            <a:off x="2328120" y="7772040"/>
            <a:ext cx="196560" cy="196560"/>
          </a:xfrm>
          <a:custGeom>
            <a:avLst/>
            <a:gdLst>
              <a:gd name="textAreaLeft" fmla="*/ 0 w 196560"/>
              <a:gd name="textAreaRight" fmla="*/ 197640 w 196560"/>
              <a:gd name="textAreaTop" fmla="*/ 0 h 196560"/>
              <a:gd name="textAreaBottom" fmla="*/ 197640 h 196560"/>
            </a:gdLst>
            <a:ahLst/>
            <a:rect l="textAreaLeft" t="textAreaTop" r="textAreaRight" b="textAreaBottom"/>
            <a:pathLst>
              <a:path w="197491" h="197491">
                <a:moveTo>
                  <a:pt x="0" y="0"/>
                </a:moveTo>
                <a:lnTo>
                  <a:pt x="197491" y="0"/>
                </a:lnTo>
                <a:lnTo>
                  <a:pt x="197491" y="197491"/>
                </a:lnTo>
                <a:lnTo>
                  <a:pt x="0" y="1974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6" name="Group 38"/>
          <p:cNvGrpSpPr/>
          <p:nvPr/>
        </p:nvGrpSpPr>
        <p:grpSpPr>
          <a:xfrm>
            <a:off x="2328120" y="8054280"/>
            <a:ext cx="8690760" cy="27360"/>
            <a:chOff x="2328120" y="8054280"/>
            <a:chExt cx="8690760" cy="27360"/>
          </a:xfrm>
        </p:grpSpPr>
        <p:sp>
          <p:nvSpPr>
            <p:cNvPr id="357" name="Freeform 39"/>
            <p:cNvSpPr/>
            <p:nvPr/>
          </p:nvSpPr>
          <p:spPr>
            <a:xfrm>
              <a:off x="2328120" y="8054280"/>
              <a:ext cx="8690760" cy="27360"/>
            </a:xfrm>
            <a:custGeom>
              <a:avLst/>
              <a:gdLst>
                <a:gd name="textAreaLeft" fmla="*/ 0 w 8690760"/>
                <a:gd name="textAreaRight" fmla="*/ 8691840 w 869076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11589131" h="38100">
                  <a:moveTo>
                    <a:pt x="0" y="0"/>
                  </a:moveTo>
                  <a:lnTo>
                    <a:pt x="11589131" y="0"/>
                  </a:lnTo>
                  <a:lnTo>
                    <a:pt x="1158913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560" bIns="-1656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58" name="TextBox 40"/>
          <p:cNvSpPr/>
          <p:nvPr/>
        </p:nvSpPr>
        <p:spPr>
          <a:xfrm>
            <a:off x="2328120" y="8191080"/>
            <a:ext cx="2468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75"/>
              </a:lnSpc>
            </a:pPr>
            <a:r>
              <a:rPr b="0" lang="en-US" sz="1940" spc="-1" strike="noStrike">
                <a:solidFill>
                  <a:srgbClr val="2c3249"/>
                </a:solidFill>
                <a:latin typeface="arial"/>
                <a:ea typeface="arial"/>
              </a:rPr>
              <a:t>Order Management</a:t>
            </a:r>
            <a:endParaRPr b="0" lang="en-IN" sz="19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41"/>
          <p:cNvSpPr/>
          <p:nvPr/>
        </p:nvSpPr>
        <p:spPr>
          <a:xfrm>
            <a:off x="2328120" y="8637120"/>
            <a:ext cx="869076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61"/>
              </a:lnSpc>
            </a:pP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Complete product, order, and review lifecycle management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0" name="Group 42"/>
          <p:cNvGrpSpPr/>
          <p:nvPr/>
        </p:nvGrpSpPr>
        <p:grpSpPr>
          <a:xfrm>
            <a:off x="11511360" y="2583360"/>
            <a:ext cx="4456800" cy="5942520"/>
            <a:chOff x="11511360" y="2583360"/>
            <a:chExt cx="4456800" cy="5942520"/>
          </a:xfrm>
        </p:grpSpPr>
        <p:sp>
          <p:nvSpPr>
            <p:cNvPr id="361" name="Freeform 43"/>
            <p:cNvSpPr/>
            <p:nvPr/>
          </p:nvSpPr>
          <p:spPr>
            <a:xfrm>
              <a:off x="11511360" y="2583360"/>
              <a:ext cx="4456800" cy="5942520"/>
            </a:xfrm>
            <a:custGeom>
              <a:avLst/>
              <a:gdLst>
                <a:gd name="textAreaLeft" fmla="*/ 0 w 4456800"/>
                <a:gd name="textAreaRight" fmla="*/ 4457880 w 4456800"/>
                <a:gd name="textAreaTop" fmla="*/ 0 h 5942520"/>
                <a:gd name="textAreaBottom" fmla="*/ 5943600 h 5942520"/>
              </a:gdLst>
              <a:ahLst/>
              <a:rect l="textAreaLeft" t="textAreaTop" r="textAreaRight" b="textAreaBottom"/>
              <a:pathLst>
                <a:path w="5943600" h="7924800">
                  <a:moveTo>
                    <a:pt x="0" y="0"/>
                  </a:moveTo>
                  <a:lnTo>
                    <a:pt x="5943600" y="0"/>
                  </a:lnTo>
                  <a:lnTo>
                    <a:pt x="594360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roup 2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363" name="Freeform 3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4" name="Group 4"/>
          <p:cNvGrpSpPr/>
          <p:nvPr/>
        </p:nvGrpSpPr>
        <p:grpSpPr>
          <a:xfrm>
            <a:off x="0" y="0"/>
            <a:ext cx="18286920" cy="10285920"/>
            <a:chOff x="0" y="0"/>
            <a:chExt cx="18286920" cy="10285920"/>
          </a:xfrm>
        </p:grpSpPr>
        <p:sp>
          <p:nvSpPr>
            <p:cNvPr id="365" name="Freeform 5"/>
            <p:cNvSpPr/>
            <p:nvPr/>
          </p:nvSpPr>
          <p:spPr>
            <a:xfrm>
              <a:off x="0" y="0"/>
              <a:ext cx="18286920" cy="10285920"/>
            </a:xfrm>
            <a:custGeom>
              <a:avLst/>
              <a:gdLst>
                <a:gd name="textAreaLeft" fmla="*/ 0 w 18286920"/>
                <a:gd name="textAreaRight" fmla="*/ 18288000 w 18286920"/>
                <a:gd name="textAreaTop" fmla="*/ 0 h 10285920"/>
                <a:gd name="textAreaBottom" fmla="*/ 10287000 h 1028592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6" name="TextBox 6"/>
          <p:cNvSpPr/>
          <p:nvPr/>
        </p:nvSpPr>
        <p:spPr>
          <a:xfrm>
            <a:off x="4253040" y="572760"/>
            <a:ext cx="54662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36"/>
              </a:lnSpc>
            </a:pPr>
            <a:r>
              <a:rPr b="0" lang="en-US" sz="2750" spc="-1" strike="noStrike">
                <a:solidFill>
                  <a:srgbClr val="272d45"/>
                </a:solidFill>
                <a:latin typeface="arial"/>
                <a:ea typeface="arial"/>
              </a:rPr>
              <a:t>Future Roadmap &amp; Enhancements</a:t>
            </a:r>
            <a:endParaRPr b="0" lang="en-IN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7"/>
          <p:cNvSpPr/>
          <p:nvPr/>
        </p:nvSpPr>
        <p:spPr>
          <a:xfrm>
            <a:off x="4253040" y="1053720"/>
            <a:ext cx="212544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61"/>
              </a:lnSpc>
            </a:pPr>
            <a:r>
              <a:rPr b="0" lang="en-US" sz="1620" spc="-1" strike="noStrike">
                <a:solidFill>
                  <a:srgbClr val="000000"/>
                </a:solidFill>
                <a:latin typeface="arial"/>
                <a:ea typeface="arial"/>
              </a:rPr>
              <a:t>🚀</a:t>
            </a:r>
            <a:r>
              <a:rPr b="0" lang="en-US" sz="1620" spc="-1" strike="noStrike">
                <a:solidFill>
                  <a:srgbClr val="272d45"/>
                </a:solidFill>
                <a:latin typeface="arial"/>
                <a:ea typeface="arial"/>
              </a:rPr>
              <a:t> </a:t>
            </a:r>
            <a:r>
              <a:rPr b="0" lang="en-US" sz="1620" spc="-1" strike="noStrike">
                <a:solidFill>
                  <a:srgbClr val="272d45"/>
                </a:solidFill>
                <a:latin typeface="arial"/>
                <a:ea typeface="arial"/>
              </a:rPr>
              <a:t>Planned Features</a:t>
            </a:r>
            <a:endParaRPr b="0" lang="en-IN" sz="16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8" name="Group 8"/>
          <p:cNvGrpSpPr/>
          <p:nvPr/>
        </p:nvGrpSpPr>
        <p:grpSpPr>
          <a:xfrm>
            <a:off x="4243680" y="1444680"/>
            <a:ext cx="9799920" cy="868680"/>
            <a:chOff x="4243680" y="1444680"/>
            <a:chExt cx="9799920" cy="868680"/>
          </a:xfrm>
        </p:grpSpPr>
        <p:sp>
          <p:nvSpPr>
            <p:cNvPr id="369" name="Freeform 9"/>
            <p:cNvSpPr/>
            <p:nvPr/>
          </p:nvSpPr>
          <p:spPr>
            <a:xfrm>
              <a:off x="4253040" y="145404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" name="Freeform 10"/>
            <p:cNvSpPr/>
            <p:nvPr/>
          </p:nvSpPr>
          <p:spPr>
            <a:xfrm>
              <a:off x="4243680" y="144468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1" name="Group 11"/>
          <p:cNvGrpSpPr/>
          <p:nvPr/>
        </p:nvGrpSpPr>
        <p:grpSpPr>
          <a:xfrm>
            <a:off x="4272120" y="1473120"/>
            <a:ext cx="565920" cy="811440"/>
            <a:chOff x="4272120" y="1473120"/>
            <a:chExt cx="565920" cy="811440"/>
          </a:xfrm>
        </p:grpSpPr>
        <p:sp>
          <p:nvSpPr>
            <p:cNvPr id="372" name="Freeform 12"/>
            <p:cNvSpPr/>
            <p:nvPr/>
          </p:nvSpPr>
          <p:spPr>
            <a:xfrm>
              <a:off x="4272120" y="147312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3" name="Freeform 13"/>
          <p:cNvSpPr/>
          <p:nvPr/>
        </p:nvSpPr>
        <p:spPr>
          <a:xfrm>
            <a:off x="4444560" y="177300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4"/>
          <p:cNvSpPr/>
          <p:nvPr/>
        </p:nvSpPr>
        <p:spPr>
          <a:xfrm>
            <a:off x="4910040" y="1595880"/>
            <a:ext cx="1770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Advanced Analytics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15"/>
          <p:cNvSpPr/>
          <p:nvPr/>
        </p:nvSpPr>
        <p:spPr>
          <a:xfrm>
            <a:off x="4910040" y="187884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Customer segmentation, product recommendations, and predictive modeling for customer behavior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6" name="Group 16"/>
          <p:cNvGrpSpPr/>
          <p:nvPr/>
        </p:nvGrpSpPr>
        <p:grpSpPr>
          <a:xfrm>
            <a:off x="4243680" y="2365920"/>
            <a:ext cx="9799920" cy="868680"/>
            <a:chOff x="4243680" y="2365920"/>
            <a:chExt cx="9799920" cy="868680"/>
          </a:xfrm>
        </p:grpSpPr>
        <p:sp>
          <p:nvSpPr>
            <p:cNvPr id="377" name="Freeform 17"/>
            <p:cNvSpPr/>
            <p:nvPr/>
          </p:nvSpPr>
          <p:spPr>
            <a:xfrm>
              <a:off x="4253040" y="237564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" name="Freeform 18"/>
            <p:cNvSpPr/>
            <p:nvPr/>
          </p:nvSpPr>
          <p:spPr>
            <a:xfrm>
              <a:off x="4243680" y="236592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" name="Group 19"/>
          <p:cNvGrpSpPr/>
          <p:nvPr/>
        </p:nvGrpSpPr>
        <p:grpSpPr>
          <a:xfrm>
            <a:off x="4272120" y="2394720"/>
            <a:ext cx="565920" cy="811440"/>
            <a:chOff x="4272120" y="2394720"/>
            <a:chExt cx="565920" cy="811440"/>
          </a:xfrm>
        </p:grpSpPr>
        <p:sp>
          <p:nvSpPr>
            <p:cNvPr id="380" name="Freeform 20"/>
            <p:cNvSpPr/>
            <p:nvPr/>
          </p:nvSpPr>
          <p:spPr>
            <a:xfrm>
              <a:off x="4272120" y="239472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1" name="Freeform 21"/>
          <p:cNvSpPr/>
          <p:nvPr/>
        </p:nvSpPr>
        <p:spPr>
          <a:xfrm>
            <a:off x="4444560" y="269460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22"/>
          <p:cNvSpPr/>
          <p:nvPr/>
        </p:nvSpPr>
        <p:spPr>
          <a:xfrm>
            <a:off x="4910040" y="2517120"/>
            <a:ext cx="1770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ML Models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23"/>
          <p:cNvSpPr/>
          <p:nvPr/>
        </p:nvSpPr>
        <p:spPr>
          <a:xfrm>
            <a:off x="4910040" y="280008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Demand forecasting with time series analysis and inventory optimization algorithms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4" name="Group 24"/>
          <p:cNvGrpSpPr/>
          <p:nvPr/>
        </p:nvGrpSpPr>
        <p:grpSpPr>
          <a:xfrm>
            <a:off x="4243680" y="3287520"/>
            <a:ext cx="9799920" cy="868680"/>
            <a:chOff x="4243680" y="3287520"/>
            <a:chExt cx="9799920" cy="868680"/>
          </a:xfrm>
        </p:grpSpPr>
        <p:sp>
          <p:nvSpPr>
            <p:cNvPr id="385" name="Freeform 25"/>
            <p:cNvSpPr/>
            <p:nvPr/>
          </p:nvSpPr>
          <p:spPr>
            <a:xfrm>
              <a:off x="4253040" y="329688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" name="Freeform 26"/>
            <p:cNvSpPr/>
            <p:nvPr/>
          </p:nvSpPr>
          <p:spPr>
            <a:xfrm>
              <a:off x="4243680" y="328752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" name="Group 27"/>
          <p:cNvGrpSpPr/>
          <p:nvPr/>
        </p:nvGrpSpPr>
        <p:grpSpPr>
          <a:xfrm>
            <a:off x="4272120" y="3315960"/>
            <a:ext cx="565920" cy="811440"/>
            <a:chOff x="4272120" y="3315960"/>
            <a:chExt cx="565920" cy="811440"/>
          </a:xfrm>
        </p:grpSpPr>
        <p:sp>
          <p:nvSpPr>
            <p:cNvPr id="388" name="Freeform 28"/>
            <p:cNvSpPr/>
            <p:nvPr/>
          </p:nvSpPr>
          <p:spPr>
            <a:xfrm>
              <a:off x="4272120" y="331596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9" name="Freeform 29"/>
          <p:cNvSpPr/>
          <p:nvPr/>
        </p:nvSpPr>
        <p:spPr>
          <a:xfrm>
            <a:off x="4444560" y="361584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30"/>
          <p:cNvSpPr/>
          <p:nvPr/>
        </p:nvSpPr>
        <p:spPr>
          <a:xfrm>
            <a:off x="4910040" y="3438720"/>
            <a:ext cx="18010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Inventory Management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31"/>
          <p:cNvSpPr/>
          <p:nvPr/>
        </p:nvSpPr>
        <p:spPr>
          <a:xfrm>
            <a:off x="4910040" y="372168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Real-time stock tracking with automated alerts for low inventory levels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2" name="Group 32"/>
          <p:cNvGrpSpPr/>
          <p:nvPr/>
        </p:nvGrpSpPr>
        <p:grpSpPr>
          <a:xfrm>
            <a:off x="4243680" y="4208760"/>
            <a:ext cx="9799920" cy="868680"/>
            <a:chOff x="4243680" y="4208760"/>
            <a:chExt cx="9799920" cy="868680"/>
          </a:xfrm>
        </p:grpSpPr>
        <p:sp>
          <p:nvSpPr>
            <p:cNvPr id="393" name="Freeform 33"/>
            <p:cNvSpPr/>
            <p:nvPr/>
          </p:nvSpPr>
          <p:spPr>
            <a:xfrm>
              <a:off x="4253040" y="421848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4" name="Freeform 34"/>
            <p:cNvSpPr/>
            <p:nvPr/>
          </p:nvSpPr>
          <p:spPr>
            <a:xfrm>
              <a:off x="4243680" y="420876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5" name="Group 35"/>
          <p:cNvGrpSpPr/>
          <p:nvPr/>
        </p:nvGrpSpPr>
        <p:grpSpPr>
          <a:xfrm>
            <a:off x="4272120" y="4237560"/>
            <a:ext cx="565920" cy="811440"/>
            <a:chOff x="4272120" y="4237560"/>
            <a:chExt cx="565920" cy="811440"/>
          </a:xfrm>
        </p:grpSpPr>
        <p:sp>
          <p:nvSpPr>
            <p:cNvPr id="396" name="Freeform 36"/>
            <p:cNvSpPr/>
            <p:nvPr/>
          </p:nvSpPr>
          <p:spPr>
            <a:xfrm>
              <a:off x="4272120" y="423756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7" name="Freeform 37"/>
          <p:cNvSpPr/>
          <p:nvPr/>
        </p:nvSpPr>
        <p:spPr>
          <a:xfrm>
            <a:off x="4444560" y="453744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38"/>
          <p:cNvSpPr/>
          <p:nvPr/>
        </p:nvSpPr>
        <p:spPr>
          <a:xfrm>
            <a:off x="4910040" y="4359960"/>
            <a:ext cx="1770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BI Integration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39"/>
          <p:cNvSpPr/>
          <p:nvPr/>
        </p:nvSpPr>
        <p:spPr>
          <a:xfrm>
            <a:off x="4910040" y="464292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Enhanced visualization with Apache Superset or Metabase for business intelligence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0" name="Group 40"/>
          <p:cNvGrpSpPr/>
          <p:nvPr/>
        </p:nvGrpSpPr>
        <p:grpSpPr>
          <a:xfrm>
            <a:off x="4243680" y="5130360"/>
            <a:ext cx="9799920" cy="868680"/>
            <a:chOff x="4243680" y="5130360"/>
            <a:chExt cx="9799920" cy="868680"/>
          </a:xfrm>
        </p:grpSpPr>
        <p:sp>
          <p:nvSpPr>
            <p:cNvPr id="401" name="Freeform 41"/>
            <p:cNvSpPr/>
            <p:nvPr/>
          </p:nvSpPr>
          <p:spPr>
            <a:xfrm>
              <a:off x="4253040" y="513972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Freeform 42"/>
            <p:cNvSpPr/>
            <p:nvPr/>
          </p:nvSpPr>
          <p:spPr>
            <a:xfrm>
              <a:off x="4243680" y="513036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3" name="Group 43"/>
          <p:cNvGrpSpPr/>
          <p:nvPr/>
        </p:nvGrpSpPr>
        <p:grpSpPr>
          <a:xfrm>
            <a:off x="4272120" y="5158800"/>
            <a:ext cx="565920" cy="811440"/>
            <a:chOff x="4272120" y="5158800"/>
            <a:chExt cx="565920" cy="811440"/>
          </a:xfrm>
        </p:grpSpPr>
        <p:sp>
          <p:nvSpPr>
            <p:cNvPr id="404" name="Freeform 44"/>
            <p:cNvSpPr/>
            <p:nvPr/>
          </p:nvSpPr>
          <p:spPr>
            <a:xfrm>
              <a:off x="4272120" y="515880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5" name="Freeform 45"/>
          <p:cNvSpPr/>
          <p:nvPr/>
        </p:nvSpPr>
        <p:spPr>
          <a:xfrm>
            <a:off x="4444560" y="545868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46"/>
          <p:cNvSpPr/>
          <p:nvPr/>
        </p:nvSpPr>
        <p:spPr>
          <a:xfrm>
            <a:off x="4910040" y="5281560"/>
            <a:ext cx="1770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Data Warehouse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47"/>
          <p:cNvSpPr/>
          <p:nvPr/>
        </p:nvSpPr>
        <p:spPr>
          <a:xfrm>
            <a:off x="4910040" y="556452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Integration with Snowflake or BigQuery for enterprise-scale analytics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8" name="Group 48"/>
          <p:cNvGrpSpPr/>
          <p:nvPr/>
        </p:nvGrpSpPr>
        <p:grpSpPr>
          <a:xfrm>
            <a:off x="4243680" y="6051600"/>
            <a:ext cx="9799920" cy="868680"/>
            <a:chOff x="4243680" y="6051600"/>
            <a:chExt cx="9799920" cy="868680"/>
          </a:xfrm>
        </p:grpSpPr>
        <p:sp>
          <p:nvSpPr>
            <p:cNvPr id="409" name="Freeform 49"/>
            <p:cNvSpPr/>
            <p:nvPr/>
          </p:nvSpPr>
          <p:spPr>
            <a:xfrm>
              <a:off x="4253040" y="606132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0" name="Freeform 50"/>
            <p:cNvSpPr/>
            <p:nvPr/>
          </p:nvSpPr>
          <p:spPr>
            <a:xfrm>
              <a:off x="4243680" y="605160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1" name="Group 51"/>
          <p:cNvGrpSpPr/>
          <p:nvPr/>
        </p:nvGrpSpPr>
        <p:grpSpPr>
          <a:xfrm>
            <a:off x="4272120" y="6080400"/>
            <a:ext cx="565920" cy="811440"/>
            <a:chOff x="4272120" y="6080400"/>
            <a:chExt cx="565920" cy="811440"/>
          </a:xfrm>
        </p:grpSpPr>
        <p:sp>
          <p:nvSpPr>
            <p:cNvPr id="412" name="Freeform 52"/>
            <p:cNvSpPr/>
            <p:nvPr/>
          </p:nvSpPr>
          <p:spPr>
            <a:xfrm>
              <a:off x="4272120" y="608040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3" name="Freeform 53"/>
          <p:cNvSpPr/>
          <p:nvPr/>
        </p:nvSpPr>
        <p:spPr>
          <a:xfrm>
            <a:off x="4444560" y="638028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54"/>
          <p:cNvSpPr/>
          <p:nvPr/>
        </p:nvSpPr>
        <p:spPr>
          <a:xfrm>
            <a:off x="4910040" y="6202800"/>
            <a:ext cx="1770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A/B Testing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55"/>
          <p:cNvSpPr/>
          <p:nvPr/>
        </p:nvSpPr>
        <p:spPr>
          <a:xfrm>
            <a:off x="4910040" y="648576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Framework for product feature experimentation and conversion rate optimization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6" name="Group 56"/>
          <p:cNvGrpSpPr/>
          <p:nvPr/>
        </p:nvGrpSpPr>
        <p:grpSpPr>
          <a:xfrm>
            <a:off x="4243680" y="6973200"/>
            <a:ext cx="9799920" cy="868680"/>
            <a:chOff x="4243680" y="6973200"/>
            <a:chExt cx="9799920" cy="868680"/>
          </a:xfrm>
        </p:grpSpPr>
        <p:sp>
          <p:nvSpPr>
            <p:cNvPr id="417" name="Freeform 57"/>
            <p:cNvSpPr/>
            <p:nvPr/>
          </p:nvSpPr>
          <p:spPr>
            <a:xfrm>
              <a:off x="4253040" y="698256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8" name="Freeform 58"/>
            <p:cNvSpPr/>
            <p:nvPr/>
          </p:nvSpPr>
          <p:spPr>
            <a:xfrm>
              <a:off x="4243680" y="697320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9" name="Group 59"/>
          <p:cNvGrpSpPr/>
          <p:nvPr/>
        </p:nvGrpSpPr>
        <p:grpSpPr>
          <a:xfrm>
            <a:off x="4272120" y="7001640"/>
            <a:ext cx="565920" cy="811440"/>
            <a:chOff x="4272120" y="7001640"/>
            <a:chExt cx="565920" cy="811440"/>
          </a:xfrm>
        </p:grpSpPr>
        <p:sp>
          <p:nvSpPr>
            <p:cNvPr id="420" name="Freeform 60"/>
            <p:cNvSpPr/>
            <p:nvPr/>
          </p:nvSpPr>
          <p:spPr>
            <a:xfrm>
              <a:off x="4272120" y="700164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1" name="Freeform 61"/>
          <p:cNvSpPr/>
          <p:nvPr/>
        </p:nvSpPr>
        <p:spPr>
          <a:xfrm>
            <a:off x="4444560" y="730152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62"/>
          <p:cNvSpPr/>
          <p:nvPr/>
        </p:nvSpPr>
        <p:spPr>
          <a:xfrm>
            <a:off x="4910040" y="7124400"/>
            <a:ext cx="1770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Caching Layer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63"/>
          <p:cNvSpPr/>
          <p:nvPr/>
        </p:nvSpPr>
        <p:spPr>
          <a:xfrm>
            <a:off x="4910040" y="740700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Performance optimization with Redis for reduced database load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4" name="Group 64"/>
          <p:cNvGrpSpPr/>
          <p:nvPr/>
        </p:nvGrpSpPr>
        <p:grpSpPr>
          <a:xfrm>
            <a:off x="4243680" y="7894440"/>
            <a:ext cx="9799920" cy="868680"/>
            <a:chOff x="4243680" y="7894440"/>
            <a:chExt cx="9799920" cy="868680"/>
          </a:xfrm>
        </p:grpSpPr>
        <p:sp>
          <p:nvSpPr>
            <p:cNvPr id="425" name="Freeform 65"/>
            <p:cNvSpPr/>
            <p:nvPr/>
          </p:nvSpPr>
          <p:spPr>
            <a:xfrm>
              <a:off x="4253040" y="790380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Freeform 66"/>
            <p:cNvSpPr/>
            <p:nvPr/>
          </p:nvSpPr>
          <p:spPr>
            <a:xfrm>
              <a:off x="4243680" y="789444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7" name="Group 67"/>
          <p:cNvGrpSpPr/>
          <p:nvPr/>
        </p:nvGrpSpPr>
        <p:grpSpPr>
          <a:xfrm>
            <a:off x="4272120" y="7922880"/>
            <a:ext cx="565920" cy="811440"/>
            <a:chOff x="4272120" y="7922880"/>
            <a:chExt cx="565920" cy="811440"/>
          </a:xfrm>
        </p:grpSpPr>
        <p:sp>
          <p:nvSpPr>
            <p:cNvPr id="428" name="Freeform 68"/>
            <p:cNvSpPr/>
            <p:nvPr/>
          </p:nvSpPr>
          <p:spPr>
            <a:xfrm>
              <a:off x="4272120" y="792288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9" name="Freeform 69"/>
          <p:cNvSpPr/>
          <p:nvPr/>
        </p:nvSpPr>
        <p:spPr>
          <a:xfrm>
            <a:off x="4444560" y="822276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Box 70"/>
          <p:cNvSpPr/>
          <p:nvPr/>
        </p:nvSpPr>
        <p:spPr>
          <a:xfrm>
            <a:off x="4910040" y="8045640"/>
            <a:ext cx="1770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Mobile App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Box 71"/>
          <p:cNvSpPr/>
          <p:nvPr/>
        </p:nvSpPr>
        <p:spPr>
          <a:xfrm>
            <a:off x="4910040" y="832860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Native iOS and Android applications for enhanced customer engagement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2" name="Group 72"/>
          <p:cNvGrpSpPr/>
          <p:nvPr/>
        </p:nvGrpSpPr>
        <p:grpSpPr>
          <a:xfrm>
            <a:off x="4243680" y="8815680"/>
            <a:ext cx="9799920" cy="868680"/>
            <a:chOff x="4243680" y="8815680"/>
            <a:chExt cx="9799920" cy="868680"/>
          </a:xfrm>
        </p:grpSpPr>
        <p:sp>
          <p:nvSpPr>
            <p:cNvPr id="433" name="Freeform 73"/>
            <p:cNvSpPr/>
            <p:nvPr/>
          </p:nvSpPr>
          <p:spPr>
            <a:xfrm>
              <a:off x="4253040" y="8825400"/>
              <a:ext cx="9780840" cy="849600"/>
            </a:xfrm>
            <a:custGeom>
              <a:avLst/>
              <a:gdLst>
                <a:gd name="textAreaLeft" fmla="*/ 0 w 9780840"/>
                <a:gd name="textAreaRight" fmla="*/ 9781920 w 9780840"/>
                <a:gd name="textAreaTop" fmla="*/ 0 h 849600"/>
                <a:gd name="textAreaBottom" fmla="*/ 850680 h 849600"/>
              </a:gdLst>
              <a:ahLst/>
              <a:rect l="textAreaLeft" t="textAreaTop" r="textAreaRight" b="textAreaBottom"/>
              <a:pathLst>
                <a:path w="13042519" h="1134110">
                  <a:moveTo>
                    <a:pt x="0" y="79375"/>
                  </a:moveTo>
                  <a:cubicBezTo>
                    <a:pt x="0" y="35560"/>
                    <a:pt x="36322" y="0"/>
                    <a:pt x="81026" y="0"/>
                  </a:cubicBezTo>
                  <a:lnTo>
                    <a:pt x="12961493" y="0"/>
                  </a:lnTo>
                  <a:cubicBezTo>
                    <a:pt x="13006197" y="0"/>
                    <a:pt x="13042519" y="35560"/>
                    <a:pt x="13042519" y="79375"/>
                  </a:cubicBezTo>
                  <a:lnTo>
                    <a:pt x="13042519" y="1054735"/>
                  </a:lnTo>
                  <a:cubicBezTo>
                    <a:pt x="13042519" y="1098550"/>
                    <a:pt x="13006197" y="1134110"/>
                    <a:pt x="12961493" y="1134110"/>
                  </a:cubicBezTo>
                  <a:lnTo>
                    <a:pt x="81026" y="1134110"/>
                  </a:lnTo>
                  <a:cubicBezTo>
                    <a:pt x="36322" y="1134110"/>
                    <a:pt x="0" y="1098550"/>
                    <a:pt x="0" y="105473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4" name="Freeform 74"/>
            <p:cNvSpPr/>
            <p:nvPr/>
          </p:nvSpPr>
          <p:spPr>
            <a:xfrm>
              <a:off x="4243680" y="8815680"/>
              <a:ext cx="9799920" cy="868680"/>
            </a:xfrm>
            <a:custGeom>
              <a:avLst/>
              <a:gdLst>
                <a:gd name="textAreaLeft" fmla="*/ 0 w 9799920"/>
                <a:gd name="textAreaRight" fmla="*/ 9801000 w 9799920"/>
                <a:gd name="textAreaTop" fmla="*/ 0 h 868680"/>
                <a:gd name="textAreaBottom" fmla="*/ 869760 h 868680"/>
              </a:gdLst>
              <a:ahLst/>
              <a:rect l="textAreaLeft" t="textAreaTop" r="textAreaRight" b="textAreaBottom"/>
              <a:pathLst>
                <a:path w="13067919" h="1159510">
                  <a:moveTo>
                    <a:pt x="0" y="92075"/>
                  </a:moveTo>
                  <a:cubicBezTo>
                    <a:pt x="0" y="41021"/>
                    <a:pt x="42164" y="0"/>
                    <a:pt x="93726" y="0"/>
                  </a:cubicBezTo>
                  <a:lnTo>
                    <a:pt x="12974193" y="0"/>
                  </a:lnTo>
                  <a:lnTo>
                    <a:pt x="12974193" y="12700"/>
                  </a:lnTo>
                  <a:lnTo>
                    <a:pt x="12974193" y="0"/>
                  </a:lnTo>
                  <a:cubicBezTo>
                    <a:pt x="13025755" y="0"/>
                    <a:pt x="13067919" y="41021"/>
                    <a:pt x="13067919" y="92075"/>
                  </a:cubicBezTo>
                  <a:lnTo>
                    <a:pt x="13055219" y="92075"/>
                  </a:lnTo>
                  <a:lnTo>
                    <a:pt x="13067919" y="92075"/>
                  </a:lnTo>
                  <a:lnTo>
                    <a:pt x="13067919" y="1067435"/>
                  </a:lnTo>
                  <a:lnTo>
                    <a:pt x="13055219" y="1067435"/>
                  </a:lnTo>
                  <a:lnTo>
                    <a:pt x="13067919" y="1067435"/>
                  </a:lnTo>
                  <a:cubicBezTo>
                    <a:pt x="13067919" y="1118489"/>
                    <a:pt x="13025755" y="1159510"/>
                    <a:pt x="12974193" y="1159510"/>
                  </a:cubicBezTo>
                  <a:lnTo>
                    <a:pt x="12974193" y="1146810"/>
                  </a:lnTo>
                  <a:lnTo>
                    <a:pt x="12974193" y="1159510"/>
                  </a:lnTo>
                  <a:lnTo>
                    <a:pt x="93726" y="1159510"/>
                  </a:lnTo>
                  <a:lnTo>
                    <a:pt x="93726" y="1146810"/>
                  </a:lnTo>
                  <a:lnTo>
                    <a:pt x="93726" y="1159510"/>
                  </a:lnTo>
                  <a:cubicBezTo>
                    <a:pt x="42164" y="1159510"/>
                    <a:pt x="0" y="1118489"/>
                    <a:pt x="0" y="106743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1067435"/>
                  </a:lnTo>
                  <a:lnTo>
                    <a:pt x="12700" y="1067435"/>
                  </a:lnTo>
                  <a:lnTo>
                    <a:pt x="25400" y="1067435"/>
                  </a:lnTo>
                  <a:cubicBezTo>
                    <a:pt x="25400" y="1104011"/>
                    <a:pt x="55753" y="1134110"/>
                    <a:pt x="93726" y="1134110"/>
                  </a:cubicBezTo>
                  <a:lnTo>
                    <a:pt x="12974193" y="1134110"/>
                  </a:lnTo>
                  <a:cubicBezTo>
                    <a:pt x="13012167" y="1134110"/>
                    <a:pt x="13042519" y="1104011"/>
                    <a:pt x="13042519" y="1067435"/>
                  </a:cubicBezTo>
                  <a:lnTo>
                    <a:pt x="13042519" y="92075"/>
                  </a:lnTo>
                  <a:cubicBezTo>
                    <a:pt x="13042519" y="55499"/>
                    <a:pt x="13012167" y="25400"/>
                    <a:pt x="12974193" y="25400"/>
                  </a:cubicBezTo>
                  <a:lnTo>
                    <a:pt x="93726" y="25400"/>
                  </a:lnTo>
                  <a:lnTo>
                    <a:pt x="93726" y="12700"/>
                  </a:lnTo>
                  <a:lnTo>
                    <a:pt x="93726" y="25400"/>
                  </a:lnTo>
                  <a:cubicBezTo>
                    <a:pt x="55753" y="25400"/>
                    <a:pt x="25400" y="55499"/>
                    <a:pt x="25400" y="92075"/>
                  </a:cubicBezTo>
                  <a:close/>
                </a:path>
              </a:pathLst>
            </a:custGeom>
            <a:solidFill>
              <a:srgbClr val="c5d2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5" name="Group 75"/>
          <p:cNvGrpSpPr/>
          <p:nvPr/>
        </p:nvGrpSpPr>
        <p:grpSpPr>
          <a:xfrm>
            <a:off x="4272120" y="8844480"/>
            <a:ext cx="565920" cy="811440"/>
            <a:chOff x="4272120" y="8844480"/>
            <a:chExt cx="565920" cy="811440"/>
          </a:xfrm>
        </p:grpSpPr>
        <p:sp>
          <p:nvSpPr>
            <p:cNvPr id="436" name="Freeform 76"/>
            <p:cNvSpPr/>
            <p:nvPr/>
          </p:nvSpPr>
          <p:spPr>
            <a:xfrm>
              <a:off x="4272120" y="8844480"/>
              <a:ext cx="565920" cy="811440"/>
            </a:xfrm>
            <a:custGeom>
              <a:avLst/>
              <a:gdLst>
                <a:gd name="textAreaLeft" fmla="*/ 0 w 565920"/>
                <a:gd name="textAreaRight" fmla="*/ 567000 w 565920"/>
                <a:gd name="textAreaTop" fmla="*/ 0 h 811440"/>
                <a:gd name="textAreaBottom" fmla="*/ 812520 h 811440"/>
              </a:gdLst>
              <a:ahLst/>
              <a:rect l="textAreaLeft" t="textAreaTop" r="textAreaRight" b="textAreaBottom"/>
              <a:pathLst>
                <a:path w="756031" h="1083310">
                  <a:moveTo>
                    <a:pt x="0" y="48895"/>
                  </a:moveTo>
                  <a:cubicBezTo>
                    <a:pt x="0" y="21844"/>
                    <a:pt x="21844" y="0"/>
                    <a:pt x="48895" y="0"/>
                  </a:cubicBezTo>
                  <a:lnTo>
                    <a:pt x="707136" y="0"/>
                  </a:lnTo>
                  <a:cubicBezTo>
                    <a:pt x="734187" y="0"/>
                    <a:pt x="756031" y="21844"/>
                    <a:pt x="756031" y="48895"/>
                  </a:cubicBezTo>
                  <a:lnTo>
                    <a:pt x="756031" y="1034415"/>
                  </a:lnTo>
                  <a:cubicBezTo>
                    <a:pt x="756031" y="1061466"/>
                    <a:pt x="734187" y="1083310"/>
                    <a:pt x="707136" y="1083310"/>
                  </a:cubicBezTo>
                  <a:lnTo>
                    <a:pt x="48895" y="1083310"/>
                  </a:lnTo>
                  <a:cubicBezTo>
                    <a:pt x="21844" y="1083310"/>
                    <a:pt x="0" y="1061339"/>
                    <a:pt x="0" y="1034415"/>
                  </a:cubicBezTo>
                  <a:close/>
                </a:path>
              </a:pathLst>
            </a:custGeom>
            <a:solidFill>
              <a:srgbClr val="dfec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37" name="Freeform 77"/>
          <p:cNvSpPr/>
          <p:nvPr/>
        </p:nvSpPr>
        <p:spPr>
          <a:xfrm>
            <a:off x="4444560" y="9144360"/>
            <a:ext cx="211320" cy="211320"/>
          </a:xfrm>
          <a:custGeom>
            <a:avLst/>
            <a:gdLst>
              <a:gd name="textAreaLeft" fmla="*/ 0 w 211320"/>
              <a:gd name="textAreaRight" fmla="*/ 212400 w 2113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12522" h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78"/>
          <p:cNvSpPr/>
          <p:nvPr/>
        </p:nvSpPr>
        <p:spPr>
          <a:xfrm>
            <a:off x="4910040" y="8966880"/>
            <a:ext cx="1770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87"/>
              </a:lnSpc>
            </a:pPr>
            <a:r>
              <a:rPr b="0" lang="en-US" sz="1370" spc="-1" strike="noStrike">
                <a:solidFill>
                  <a:srgbClr val="2c3249"/>
                </a:solidFill>
                <a:latin typeface="arial"/>
                <a:ea typeface="arial"/>
              </a:rPr>
              <a:t>Payment Gateway</a:t>
            </a:r>
            <a:endParaRPr b="0" lang="en-IN" sz="1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79"/>
          <p:cNvSpPr/>
          <p:nvPr/>
        </p:nvSpPr>
        <p:spPr>
          <a:xfrm>
            <a:off x="4910040" y="9249840"/>
            <a:ext cx="89632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12"/>
              </a:lnSpc>
            </a:pPr>
            <a:r>
              <a:rPr b="0" lang="en-US" sz="1060" spc="-1" strike="noStrike">
                <a:solidFill>
                  <a:srgbClr val="2c3249"/>
                </a:solidFill>
                <a:latin typeface="Martel Sans"/>
                <a:ea typeface="Martel Sans"/>
              </a:rPr>
              <a:t>Secure payment processing integration with Stripe or PayPal</a:t>
            </a:r>
            <a:endParaRPr b="0" lang="en-IN" sz="10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DAHEaP66f7I</dc:identifier>
  <dc:language>en-IN</dc:language>
  <cp:lastModifiedBy/>
  <dcterms:modified xsi:type="dcterms:W3CDTF">2026-05-02T15:00:48Z</dcterms:modified>
  <cp:revision>5</cp:revision>
  <dc:subject/>
  <dc:title>E-Commerce-Real-Time-Data-Lake-and-Analytics-Platform.pptx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